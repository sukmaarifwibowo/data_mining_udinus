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9"/>
  </p:notesMasterIdLst>
  <p:handoutMasterIdLst>
    <p:handoutMasterId r:id="rId30"/>
  </p:handout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57" r:id="rId28"/>
  </p:sldIdLst>
  <p:sldSz cx="12192000" cy="6858000"/>
  <p:notesSz cx="6858000" cy="9144000"/>
  <p:defaultTextStyle>
    <a:defPPr rtl="0"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89" d="100"/>
          <a:sy n="89" d="100"/>
        </p:scale>
        <p:origin x="63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pat Penampung Hea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Tampungan Tanggal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7A4C9D9-B028-4217-8606-CF5F96944C02}" type="datetime1">
              <a:rPr lang="id-ID" smtClean="0"/>
              <a:t>21/11/2025</a:t>
            </a:fld>
            <a:endParaRPr lang="en-US" dirty="0"/>
          </a:p>
        </p:txBody>
      </p:sp>
      <p:sp>
        <p:nvSpPr>
          <p:cNvPr id="4" name="Tampungan Ka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Tempat Penampung Nomor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pat Penampung Hea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Tampungan Tanggal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3EFB417-89F8-4CE3-8B29-0B0DE482649C}" type="datetime1">
              <a:rPr lang="id-ID" smtClean="0"/>
              <a:t>21/11/2025</a:t>
            </a:fld>
            <a:endParaRPr lang="en-US"/>
          </a:p>
        </p:txBody>
      </p:sp>
      <p:sp>
        <p:nvSpPr>
          <p:cNvPr id="4" name="Tampungan Gambar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Tempat Penampung Catatan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d-id"/>
              <a:t>Klik untuk mengedit gaya teks Master</a:t>
            </a:r>
            <a:endParaRPr lang="en-US"/>
          </a:p>
          <a:p>
            <a:pPr lvl="1" rtl="0"/>
            <a:r>
              <a:rPr lang="id-id"/>
              <a:t>Tingkat kedua</a:t>
            </a:r>
          </a:p>
          <a:p>
            <a:pPr lvl="2" rtl="0"/>
            <a:r>
              <a:rPr lang="id-id"/>
              <a:t>Tingkat ketiga</a:t>
            </a:r>
          </a:p>
          <a:p>
            <a:pPr lvl="3" rtl="0"/>
            <a:r>
              <a:rPr lang="id-id"/>
              <a:t>Tingkat keempat</a:t>
            </a:r>
          </a:p>
          <a:p>
            <a:pPr lvl="4" rtl="0"/>
            <a:r>
              <a:rPr lang="id-id"/>
              <a:t>Tingkat kelima</a:t>
            </a:r>
            <a:endParaRPr lang="en-US"/>
          </a:p>
        </p:txBody>
      </p:sp>
      <p:sp>
        <p:nvSpPr>
          <p:cNvPr id="6" name="Tempat Penampung Foo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Tempat Penampung Nomor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ersegi panjang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Judul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judul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Tampungan Tanggal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A5EDC3D-F32D-45F0-9700-2FC1E99D6A9B}" type="datetime1">
              <a:rPr lang="id-ID" smtClean="0"/>
              <a:t>21/11/2025</a:t>
            </a:fld>
            <a:endParaRPr lang="en-US" dirty="0"/>
          </a:p>
        </p:txBody>
      </p:sp>
      <p:sp>
        <p:nvSpPr>
          <p:cNvPr id="9" name="Tampungan Kaki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Tempat Penampung Nomor Slide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mpat Penampung Konten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ampungan Tanggal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27B17D-CD0D-4640-9BEA-4EA862DC1A8A}" type="datetime1">
              <a:rPr lang="id-ID" smtClean="0"/>
              <a:t>21/11/2025</a:t>
            </a:fld>
            <a:endParaRPr lang="en-US" dirty="0"/>
          </a:p>
        </p:txBody>
      </p:sp>
      <p:sp>
        <p:nvSpPr>
          <p:cNvPr id="9" name="Tampungan Kaki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Tempat Penampung Nomor Slide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ersegi panjang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mpat Penampung Teks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7" name="Tampungan Tanggal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253316-A3E2-4C18-B873-45F4427EF75D}" type="datetime1">
              <a:rPr lang="id-ID" smtClean="0"/>
              <a:t>21/11/2025</a:t>
            </a:fld>
            <a:endParaRPr lang="en-US" dirty="0"/>
          </a:p>
        </p:txBody>
      </p:sp>
      <p:sp>
        <p:nvSpPr>
          <p:cNvPr id="9" name="Tampungan Kaki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Tempat Penampung Nomor Slide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mpat Penampung Konten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mpat Penampung Konten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ampungan Tanggal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4E47BC-AAD6-460C-B49A-E7EEF31F54C5}" type="datetime1">
              <a:rPr lang="id-ID" smtClean="0"/>
              <a:t>21/11/2025</a:t>
            </a:fld>
            <a:endParaRPr lang="en-US" dirty="0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Tempat Penampung Nomor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Judul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mpat Penampung Teks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Tempat Penampung Konten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mpat Penampung Teks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Tempat Penampung Konten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mpungan Tanggal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169151-2B8E-4514-9C91-C2B85311DF59}" type="datetime1">
              <a:rPr lang="id-ID" smtClean="0"/>
              <a:t>21/11/2025</a:t>
            </a:fld>
            <a:endParaRPr lang="en-US" dirty="0"/>
          </a:p>
        </p:txBody>
      </p:sp>
      <p:sp>
        <p:nvSpPr>
          <p:cNvPr id="8" name="Tampungan Kaki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Tempat Penampung Nomor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Judul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ampungan Tanggal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9D2F889-8FC7-40A0-ADDD-0236F2B58D52}" type="datetime1">
              <a:rPr lang="id-ID" smtClean="0"/>
              <a:t>21/11/2025</a:t>
            </a:fld>
            <a:endParaRPr lang="en-US" dirty="0"/>
          </a:p>
        </p:txBody>
      </p:sp>
      <p:sp>
        <p:nvSpPr>
          <p:cNvPr id="4" name="Tampungan Kaki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Tempat Penampung Nomor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anggal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FA66E8-CC9C-460B-B0E1-0E1D361FD1AE}" type="datetime1">
              <a:rPr lang="id-ID" smtClean="0"/>
              <a:t>21/11/2025</a:t>
            </a:fld>
            <a:endParaRPr lang="en-US" dirty="0"/>
          </a:p>
        </p:txBody>
      </p:sp>
      <p:sp>
        <p:nvSpPr>
          <p:cNvPr id="3" name="Tampungan Kaki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Tempat Penampung Nomor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ersegi panjang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mpat Penampung Konten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mpat Penampung Teks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8" name="Tampungan Tanggal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31FE4212-AB3A-4127-B871-65A413BBBFEF}" type="datetime1">
              <a:rPr lang="id-ID" smtClean="0"/>
              <a:t>21/11/2025</a:t>
            </a:fld>
            <a:endParaRPr lang="en-US" dirty="0"/>
          </a:p>
        </p:txBody>
      </p:sp>
      <p:sp>
        <p:nvSpPr>
          <p:cNvPr id="10" name="Tampungan Kaki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Tampungan Nomor Slide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mpat Penampung Gamba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mpat Penampung Teks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Tampungan Tanggal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97DB51-3F5E-4212-A987-A8CA52F68FF3}" type="datetime1">
              <a:rPr lang="id-ID" smtClean="0"/>
              <a:t>21/11/2025</a:t>
            </a:fld>
            <a:endParaRPr lang="en-US" dirty="0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Tempat Penampung Nomor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Judul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laceholder Teks Vertik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ampungan Tanggal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6321C0C-0D2F-4D8B-B01F-FE218F4C93B0}" type="datetime1">
              <a:rPr lang="id-ID" smtClean="0"/>
              <a:t>21/11/2025</a:t>
            </a:fld>
            <a:endParaRPr lang="en-US" dirty="0"/>
          </a:p>
        </p:txBody>
      </p:sp>
      <p:sp>
        <p:nvSpPr>
          <p:cNvPr id="5" name="Tampungan Kaki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Tempat Penampung Nomor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ks dan Judul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ersegi panjang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Judul Vertikal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laceholder Teks Vertikal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ersegi panjang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Persegi panjang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Persegi panjang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Tampungan Tanggal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B9A277C-7CF5-495A-B7EE-6D77A3860997}" type="datetime1">
              <a:rPr lang="id-ID" smtClean="0"/>
              <a:t>21/11/2025</a:t>
            </a:fld>
            <a:endParaRPr lang="en-US" dirty="0"/>
          </a:p>
        </p:txBody>
      </p:sp>
      <p:sp>
        <p:nvSpPr>
          <p:cNvPr id="12" name="Tampungan Kaki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Tampungan Nomor Slide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pat Penampung Judul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mpat Penampung Teks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id-id"/>
              <a:t>Klik untuk mengedit gaya teks Master</a:t>
            </a:r>
          </a:p>
          <a:p>
            <a:pPr lvl="1" rtl="0"/>
            <a:r>
              <a:rPr lang="id-id"/>
              <a:t>Tingkat kedua</a:t>
            </a:r>
          </a:p>
          <a:p>
            <a:pPr lvl="2" rtl="0"/>
            <a:r>
              <a:rPr lang="id-id"/>
              <a:t>Tingkat ketiga</a:t>
            </a:r>
          </a:p>
          <a:p>
            <a:pPr lvl="3" rtl="0"/>
            <a:r>
              <a:rPr lang="id-id"/>
              <a:t>Tingkat keempat</a:t>
            </a:r>
          </a:p>
          <a:p>
            <a:pPr lvl="4" rtl="0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Tampungan Tanggal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8E4A13-D0A9-4AFC-A4E5-45AD38F4BE2A}" type="datetime1">
              <a:rPr lang="id-ID" smtClean="0"/>
              <a:t>21/11/2025</a:t>
            </a:fld>
            <a:endParaRPr lang="en-US" dirty="0"/>
          </a:p>
        </p:txBody>
      </p:sp>
      <p:sp>
        <p:nvSpPr>
          <p:cNvPr id="5" name="Tempat Penampung Foot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Tampungan Nomor Slide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ersegi panjang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Persegi panjang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Persegi panjang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8768C-8CA1-3623-5DA1-B00DB66D4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id-ID" b="1" dirty="0"/>
              <a:t>CAPSTONE PROJECT: COURSE RECOMMENDATION SYSTEM</a:t>
            </a:r>
            <a:br>
              <a:rPr lang="en-US" b="1" dirty="0"/>
            </a:br>
            <a:r>
              <a:rPr lang="id-ID" sz="1800" b="1" dirty="0"/>
              <a:t>Comprehensive Machine Learning Approach</a:t>
            </a:r>
            <a:br>
              <a:rPr lang="en-US" sz="1800" b="1" dirty="0"/>
            </a:br>
            <a:r>
              <a:rPr lang="en-US" sz="1800" b="1" dirty="0"/>
              <a:t>INTRODUCTION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2BB2D-1FFA-41A0-8A5F-1A86DECE8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12664"/>
            <a:ext cx="11029615" cy="4611250"/>
          </a:xfrm>
        </p:spPr>
        <p:txBody>
          <a:bodyPr anchor="t">
            <a:normAutofit/>
          </a:bodyPr>
          <a:lstStyle/>
          <a:p>
            <a:pPr marL="360363" indent="0" algn="just">
              <a:buNone/>
            </a:pPr>
            <a:r>
              <a:rPr lang="id-ID" dirty="0">
                <a:solidFill>
                  <a:schemeClr val="tx1"/>
                </a:solidFill>
              </a:rPr>
              <a:t>Problem Context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d-ID" dirty="0">
                <a:solidFill>
                  <a:schemeClr val="tx1"/>
                </a:solidFill>
              </a:rPr>
              <a:t>Platform Coursera/edX memiliki 1,000+ courses dengan 50,000+ users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id-ID" dirty="0">
                <a:solidFill>
                  <a:schemeClr val="tx1"/>
                </a:solidFill>
              </a:rPr>
              <a:t>Users overwhelmed dengan pilihan yang tersedia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id-ID" dirty="0">
                <a:solidFill>
                  <a:schemeClr val="tx1"/>
                </a:solidFill>
              </a:rPr>
              <a:t>Completion rates hanya 30-40% akibat ketidakcocokan rekomendasi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id-ID" dirty="0">
                <a:solidFill>
                  <a:schemeClr val="tx1"/>
                </a:solidFill>
              </a:rPr>
              <a:t>Cold start problem untuk new users dan new courses</a:t>
            </a:r>
          </a:p>
          <a:p>
            <a:pPr marL="360363" indent="0" algn="just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360363" indent="0" algn="just">
              <a:buNone/>
            </a:pPr>
            <a:r>
              <a:rPr lang="id-ID" dirty="0">
                <a:solidFill>
                  <a:schemeClr val="tx1"/>
                </a:solidFill>
              </a:rPr>
              <a:t>Project Objectives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d-ID" dirty="0">
                <a:solidFill>
                  <a:schemeClr val="tx1"/>
                </a:solidFill>
              </a:rPr>
              <a:t>Membangun 4 types of recommendation systems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id-ID" dirty="0">
                <a:solidFill>
                  <a:schemeClr val="tx1"/>
                </a:solidFill>
              </a:rPr>
              <a:t>Mengatasi sparsity problem (95.5% empty ratings)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id-ID" dirty="0">
                <a:solidFill>
                  <a:schemeClr val="tx1"/>
                </a:solidFill>
              </a:rPr>
              <a:t>Comparative analysis 6+ machine learning algorithms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id-ID" dirty="0">
                <a:solidFill>
                  <a:schemeClr val="tx1"/>
                </a:solidFill>
              </a:rPr>
              <a:t>Business impact measurement</a:t>
            </a:r>
          </a:p>
          <a:p>
            <a:pPr marL="0" indent="0" algn="just">
              <a:buNone/>
            </a:pP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DAEFB-ED23-C96F-B4C2-3C9A006B1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027B17D-CD0D-4640-9BEA-4EA862DC1A8A}" type="datetime1">
              <a:rPr lang="id-ID" smtClean="0"/>
              <a:t>21/11/2025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980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3F3BB-3AF6-0428-80A4-C2A3AB367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1" y="916945"/>
            <a:ext cx="5194769" cy="557784"/>
          </a:xfrm>
        </p:spPr>
        <p:txBody>
          <a:bodyPr/>
          <a:lstStyle/>
          <a:p>
            <a:pPr algn="just"/>
            <a:r>
              <a:rPr lang="en-US" b="1" dirty="0"/>
              <a:t>Dataset Overview</a:t>
            </a:r>
            <a:endParaRPr lang="id-ID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05944-7034-D06D-B9B6-B13609704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1" y="1791120"/>
            <a:ext cx="5194766" cy="2934999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# Actual Dataset Statistics</a:t>
            </a:r>
          </a:p>
          <a:p>
            <a:pPr marL="0" indent="0" algn="just">
              <a:buNone/>
            </a:pPr>
            <a:r>
              <a:rPr lang="en-US" dirty="0"/>
              <a:t>Total Users: 10,543</a:t>
            </a:r>
          </a:p>
          <a:p>
            <a:pPr marL="0" indent="0" algn="just">
              <a:buNone/>
            </a:pPr>
            <a:r>
              <a:rPr lang="en-US" dirty="0"/>
              <a:t>Total Courses: 1,287</a:t>
            </a:r>
          </a:p>
          <a:p>
            <a:pPr marL="0" indent="0" algn="just">
              <a:buNone/>
            </a:pPr>
            <a:r>
              <a:rPr lang="en-US" dirty="0"/>
              <a:t>Total Ratings: 58,942</a:t>
            </a:r>
          </a:p>
          <a:p>
            <a:pPr marL="0" indent="0" algn="just">
              <a:buNone/>
            </a:pPr>
            <a:r>
              <a:rPr lang="en-US" dirty="0"/>
              <a:t>Rating Density: 4.5%</a:t>
            </a:r>
          </a:p>
          <a:p>
            <a:pPr marL="0" indent="0" algn="just">
              <a:buNone/>
            </a:pPr>
            <a:r>
              <a:rPr lang="en-US" dirty="0"/>
              <a:t>Average Rating: 4.2/5.0</a:t>
            </a:r>
          </a:p>
          <a:p>
            <a:pPr marL="0" indent="0" algn="just">
              <a:buNone/>
            </a:pPr>
            <a:r>
              <a:rPr lang="en-US" dirty="0"/>
              <a:t>Time Span: 12 months</a:t>
            </a:r>
            <a:endParaRPr lang="id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25B71E-3727-7B79-8F63-ECAF7AD059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6037" y="916945"/>
            <a:ext cx="5194770" cy="553373"/>
          </a:xfrm>
        </p:spPr>
        <p:txBody>
          <a:bodyPr/>
          <a:lstStyle/>
          <a:p>
            <a:pPr algn="just"/>
            <a:r>
              <a:rPr lang="en-US" dirty="0"/>
              <a:t>Technical Stack</a:t>
            </a:r>
            <a:endParaRPr lang="id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4C9420-83FF-2CAF-4C9A-7008701C8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6036" y="1791119"/>
            <a:ext cx="5194771" cy="2934999"/>
          </a:xfrm>
        </p:spPr>
        <p:txBody>
          <a:bodyPr/>
          <a:lstStyle/>
          <a:p>
            <a:pPr algn="just"/>
            <a:r>
              <a:rPr lang="id-ID" dirty="0"/>
              <a:t>Python: Pandas, NumPy, Scikit-learn</a:t>
            </a:r>
          </a:p>
          <a:p>
            <a:pPr algn="just"/>
            <a:r>
              <a:rPr lang="id-ID" dirty="0"/>
              <a:t>ML Libraries: Surprise, TensorFlow, Keras</a:t>
            </a:r>
          </a:p>
          <a:p>
            <a:pPr algn="just"/>
            <a:r>
              <a:rPr lang="id-ID" dirty="0"/>
              <a:t>Visualization: Matplotlib, Seaborn, Plotly</a:t>
            </a:r>
          </a:p>
          <a:p>
            <a:pPr algn="just"/>
            <a:r>
              <a:rPr lang="id-ID" dirty="0"/>
              <a:t>Clustering: K-Means, DBSCAN</a:t>
            </a:r>
          </a:p>
        </p:txBody>
      </p:sp>
    </p:spTree>
    <p:extLst>
      <p:ext uri="{BB962C8B-B14F-4D97-AF65-F5344CB8AC3E}">
        <p14:creationId xmlns:p14="http://schemas.microsoft.com/office/powerpoint/2010/main" val="2448546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26C6D-4C58-9AE4-ACD4-93A944119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119" y="412584"/>
            <a:ext cx="11029616" cy="988332"/>
          </a:xfrm>
        </p:spPr>
        <p:txBody>
          <a:bodyPr anchor="ctr"/>
          <a:lstStyle/>
          <a:p>
            <a:pPr algn="ctr"/>
            <a:r>
              <a:rPr lang="id-ID" b="1" dirty="0"/>
              <a:t>EXPLORATORY DATA ANALYSIS - 1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AFB26-8FB1-93E7-AEB7-C1F62D589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1616190"/>
            <a:ext cx="5194769" cy="557784"/>
          </a:xfrm>
        </p:spPr>
        <p:txBody>
          <a:bodyPr/>
          <a:lstStyle/>
          <a:p>
            <a:r>
              <a:rPr lang="en-US" dirty="0"/>
              <a:t>Dataset Composition</a:t>
            </a:r>
            <a:endParaRPr lang="id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F03825-8C82-7FA4-B446-33CFF548F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264" y="2173974"/>
            <a:ext cx="5194766" cy="2167694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# Detailed Breakdown</a:t>
            </a:r>
          </a:p>
          <a:p>
            <a:pPr marL="0" indent="0" algn="just">
              <a:buNone/>
            </a:pPr>
            <a:r>
              <a:rPr lang="en-US" dirty="0"/>
              <a:t>Users with ≥10 ratings: 2,154 (20.4%)</a:t>
            </a:r>
          </a:p>
          <a:p>
            <a:pPr marL="0" indent="0" algn="just">
              <a:buNone/>
            </a:pPr>
            <a:r>
              <a:rPr lang="en-US" dirty="0"/>
              <a:t>Users with ≤3 ratings: 4,217 (40.0%)</a:t>
            </a:r>
          </a:p>
          <a:p>
            <a:pPr marL="0" indent="0" algn="just">
              <a:buNone/>
            </a:pPr>
            <a:r>
              <a:rPr lang="en-US" dirty="0"/>
              <a:t>Courses with ≥50 ratings: 287 (22.3%)</a:t>
            </a:r>
          </a:p>
          <a:p>
            <a:pPr marL="0" indent="0" algn="just">
              <a:buNone/>
            </a:pPr>
            <a:r>
              <a:rPr lang="en-US" dirty="0"/>
              <a:t>Courses with ≤5 ratings: 515 (40.0%)</a:t>
            </a:r>
            <a:endParaRPr lang="id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D1466B-226F-3E9E-08E0-C360E7A0A9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30965" y="1620601"/>
            <a:ext cx="5194770" cy="553373"/>
          </a:xfrm>
        </p:spPr>
        <p:txBody>
          <a:bodyPr/>
          <a:lstStyle/>
          <a:p>
            <a:r>
              <a:rPr lang="en-US" dirty="0"/>
              <a:t>Rating Distribution Analysis</a:t>
            </a:r>
            <a:endParaRPr lang="id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D01951-C90A-CC2E-F0EB-5DCC8399E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30965" y="2253713"/>
            <a:ext cx="5194771" cy="23505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dirty="0"/>
              <a:t>Key Insights: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d-ID" dirty="0"/>
              <a:t>Rating Bias: 85% ratings adalah 4 atau 5 stars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d-ID" dirty="0"/>
              <a:t>Sparse Matrix: Hanya 4.5% rating matrix terisi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d-ID" dirty="0"/>
              <a:t>Power Users: Top 10% users memberikan 45% ratings</a:t>
            </a:r>
          </a:p>
          <a:p>
            <a:pPr marL="0" indent="0" algn="just">
              <a:buNone/>
            </a:pPr>
            <a:endParaRPr lang="id-ID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AC726F8-129A-BE64-2A9B-4F89524E66BC}"/>
              </a:ext>
            </a:extLst>
          </p:cNvPr>
          <p:cNvSpPr txBox="1">
            <a:spLocks/>
          </p:cNvSpPr>
          <p:nvPr/>
        </p:nvSpPr>
        <p:spPr>
          <a:xfrm>
            <a:off x="4191740" y="4193471"/>
            <a:ext cx="3168442" cy="5533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Rating Distribution Analysis</a:t>
            </a:r>
            <a:endParaRPr lang="id-ID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0D2C2F4-94AD-C8C4-1EB4-60CDF68CE9A8}"/>
              </a:ext>
            </a:extLst>
          </p:cNvPr>
          <p:cNvSpPr txBox="1">
            <a:spLocks/>
          </p:cNvSpPr>
          <p:nvPr/>
        </p:nvSpPr>
        <p:spPr>
          <a:xfrm>
            <a:off x="3833584" y="4746844"/>
            <a:ext cx="5194766" cy="21676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/>
              <a:t># User Engagement Metrics</a:t>
            </a:r>
          </a:p>
          <a:p>
            <a:pPr marL="0" indent="0" algn="just">
              <a:buNone/>
            </a:pPr>
            <a:r>
              <a:rPr lang="en-US" dirty="0"/>
              <a:t>Average ratings per user: 5.6</a:t>
            </a:r>
          </a:p>
          <a:p>
            <a:pPr marL="0" indent="0" algn="just">
              <a:buNone/>
            </a:pPr>
            <a:r>
              <a:rPr lang="en-US" dirty="0"/>
              <a:t>Median ratings per user: 3</a:t>
            </a:r>
          </a:p>
          <a:p>
            <a:pPr marL="0" indent="0" algn="just">
              <a:buNone/>
            </a:pPr>
            <a:r>
              <a:rPr lang="en-US" dirty="0"/>
              <a:t>Max ratings by single user: 187</a:t>
            </a:r>
          </a:p>
          <a:p>
            <a:pPr marL="0" indent="0" algn="just">
              <a:buNone/>
            </a:pPr>
            <a:r>
              <a:rPr lang="en-US" dirty="0"/>
              <a:t>Users with only 1 rating: 2,841 (26.9%)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389259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991A5-17F5-137E-1F72-5AEA42A0B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7591-B081-EF9E-A053-625E86ECD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119" y="412584"/>
            <a:ext cx="11029616" cy="988332"/>
          </a:xfrm>
        </p:spPr>
        <p:txBody>
          <a:bodyPr anchor="ctr"/>
          <a:lstStyle/>
          <a:p>
            <a:pPr algn="ctr"/>
            <a:r>
              <a:rPr lang="id-ID" b="1" dirty="0"/>
              <a:t>EXPLORATORY DATA ANALYSIS - </a:t>
            </a:r>
            <a:r>
              <a:rPr lang="en-US" b="1" dirty="0"/>
              <a:t>2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F959F-3E87-A0C0-D159-21A97B454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119" y="1429961"/>
            <a:ext cx="5194769" cy="557784"/>
          </a:xfrm>
        </p:spPr>
        <p:txBody>
          <a:bodyPr/>
          <a:lstStyle/>
          <a:p>
            <a:r>
              <a:rPr lang="id-ID" b="1" dirty="0"/>
              <a:t>Course Categories Distribution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13075-8F19-179D-93F3-2D5FF2428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122" y="1918754"/>
            <a:ext cx="5194766" cy="2167694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Category Breakdown: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Technology &amp; Programming: 450 courses (35%)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Business &amp; Management: 322 courses (25%)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Data Science: 193 courses (15%)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Personal Development: 154 courses (12%)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Arts &amp; Humanities: 103 courses (8%)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Other: 65 courses (5%)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B658B3-F05E-1AC3-EFA1-72ABADD5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5511" y="1423653"/>
            <a:ext cx="5194770" cy="553373"/>
          </a:xfrm>
        </p:spPr>
        <p:txBody>
          <a:bodyPr/>
          <a:lstStyle/>
          <a:p>
            <a:r>
              <a:rPr lang="id-ID" b="1" dirty="0"/>
              <a:t>Temporal Analysis Results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8BBA7-2ACF-DB5C-BF55-900DD1CA93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30964" y="1918754"/>
            <a:ext cx="5194771" cy="235057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dirty="0"/>
              <a:t># Seasonal Patterns</a:t>
            </a:r>
          </a:p>
          <a:p>
            <a:pPr marL="0" indent="0" algn="just">
              <a:buNone/>
            </a:pPr>
            <a:r>
              <a:rPr lang="en-US" dirty="0"/>
              <a:t>Peak Enrollment Months: January (+45%), September (+38%)</a:t>
            </a:r>
          </a:p>
          <a:p>
            <a:pPr marL="0" indent="0" algn="just">
              <a:buNone/>
            </a:pPr>
            <a:r>
              <a:rPr lang="en-US" dirty="0"/>
              <a:t>Weekly Pattern: Saturday browsing (+65% sessions)</a:t>
            </a:r>
          </a:p>
          <a:p>
            <a:pPr marL="0" indent="0" algn="just">
              <a:buNone/>
            </a:pPr>
            <a:r>
              <a:rPr lang="en-US" dirty="0"/>
              <a:t>Session Duration: Average 28.3 minutes</a:t>
            </a:r>
          </a:p>
          <a:p>
            <a:pPr marL="0" indent="0" algn="just">
              <a:buNone/>
            </a:pPr>
            <a:r>
              <a:rPr lang="en-US" dirty="0"/>
              <a:t>Completion Rate by Duration:</a:t>
            </a:r>
          </a:p>
          <a:p>
            <a:pPr marL="0" indent="0" algn="just">
              <a:buNone/>
            </a:pPr>
            <a:r>
              <a:rPr lang="en-US" dirty="0"/>
              <a:t>- &lt;10 hours: 68%</a:t>
            </a:r>
          </a:p>
          <a:p>
            <a:pPr marL="0" indent="0" algn="just">
              <a:buNone/>
            </a:pPr>
            <a:r>
              <a:rPr lang="en-US" dirty="0"/>
              <a:t>- 10-20 hours: 45% </a:t>
            </a:r>
          </a:p>
          <a:p>
            <a:pPr marL="0" indent="0" algn="just">
              <a:buNone/>
            </a:pPr>
            <a:r>
              <a:rPr lang="en-US" dirty="0"/>
              <a:t>- 20+ hours: 28%</a:t>
            </a:r>
            <a:endParaRPr lang="id-ID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322974A-3EFB-D98D-A840-CF1C49FA8F6B}"/>
              </a:ext>
            </a:extLst>
          </p:cNvPr>
          <p:cNvSpPr txBox="1">
            <a:spLocks/>
          </p:cNvSpPr>
          <p:nvPr/>
        </p:nvSpPr>
        <p:spPr>
          <a:xfrm>
            <a:off x="4191740" y="4604286"/>
            <a:ext cx="3168442" cy="5533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b="1" dirty="0"/>
              <a:t>Critical Business Insights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80EC6D8-F54C-1EC7-BB8F-AB19E0FB4B94}"/>
              </a:ext>
            </a:extLst>
          </p:cNvPr>
          <p:cNvSpPr txBox="1">
            <a:spLocks/>
          </p:cNvSpPr>
          <p:nvPr/>
        </p:nvSpPr>
        <p:spPr>
          <a:xfrm>
            <a:off x="3513544" y="5157659"/>
            <a:ext cx="5194766" cy="142804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id-ID" sz="1600" dirty="0"/>
              <a:t>Sparsity Challenge: 95.5% empty cells dalam user-course</a:t>
            </a:r>
            <a:r>
              <a:rPr lang="en-US" sz="1600" dirty="0"/>
              <a:t> </a:t>
            </a:r>
            <a:r>
              <a:rPr lang="id-ID" sz="1600" dirty="0"/>
              <a:t>matrix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id-ID" sz="1600" dirty="0"/>
              <a:t>Popularity Bias: Top 50 courses dapat 35% semua ratings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id-ID" sz="1600" dirty="0"/>
              <a:t>Long-tail Opportunity: 60% courses dapat &lt;20 ratings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id-ID" sz="1600" dirty="0"/>
              <a:t>Segmentation Potential: Clear behavioral clusters</a:t>
            </a:r>
          </a:p>
        </p:txBody>
      </p:sp>
    </p:spTree>
    <p:extLst>
      <p:ext uri="{BB962C8B-B14F-4D97-AF65-F5344CB8AC3E}">
        <p14:creationId xmlns:p14="http://schemas.microsoft.com/office/powerpoint/2010/main" val="408420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780CD-2C3E-9B4F-B5CD-1A73FE2DB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602A8-590A-3BD5-BF9C-7914A43B0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119" y="412584"/>
            <a:ext cx="11029616" cy="988332"/>
          </a:xfrm>
        </p:spPr>
        <p:txBody>
          <a:bodyPr anchor="ctr"/>
          <a:lstStyle/>
          <a:p>
            <a:r>
              <a:rPr lang="fr-FR" b="1" dirty="0"/>
              <a:t> CONTENT-BASED RECOMMENDER - User Profile &amp; Genres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ABEBA-5017-9158-DC6F-BD8837035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119" y="1155642"/>
            <a:ext cx="5194769" cy="557784"/>
          </a:xfrm>
        </p:spPr>
        <p:txBody>
          <a:bodyPr/>
          <a:lstStyle/>
          <a:p>
            <a:r>
              <a:rPr lang="id-ID" b="1" dirty="0"/>
              <a:t>Technical Implementation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2E058-3309-C1F6-F681-883BFB016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122" y="1669112"/>
            <a:ext cx="5194766" cy="280068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800" dirty="0"/>
              <a:t># Feature Engineering Code</a:t>
            </a:r>
          </a:p>
          <a:p>
            <a:pPr marL="0" indent="0" algn="just">
              <a:buNone/>
            </a:pPr>
            <a:r>
              <a:rPr lang="en-US" sz="800" dirty="0"/>
              <a:t>from </a:t>
            </a:r>
            <a:r>
              <a:rPr lang="en-US" sz="800" dirty="0" err="1"/>
              <a:t>sklearn.feature_extraction.text</a:t>
            </a:r>
            <a:r>
              <a:rPr lang="en-US" sz="800" dirty="0"/>
              <a:t> import </a:t>
            </a:r>
            <a:r>
              <a:rPr lang="en-US" sz="800" dirty="0" err="1"/>
              <a:t>TfidfVectorizer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/>
              <a:t>from </a:t>
            </a:r>
            <a:r>
              <a:rPr lang="en-US" sz="800" dirty="0" err="1"/>
              <a:t>sklearn.metrics.pairwise</a:t>
            </a:r>
            <a:r>
              <a:rPr lang="en-US" sz="800" dirty="0"/>
              <a:t> import </a:t>
            </a:r>
            <a:r>
              <a:rPr lang="en-US" sz="800" dirty="0" err="1"/>
              <a:t>cosine_similarity</a:t>
            </a:r>
            <a:endParaRPr lang="en-US" sz="800" dirty="0"/>
          </a:p>
          <a:p>
            <a:pPr marL="0" indent="0" algn="just">
              <a:buNone/>
            </a:pPr>
            <a:endParaRPr lang="en-US" sz="800" dirty="0"/>
          </a:p>
          <a:p>
            <a:pPr marL="0" indent="0" algn="just">
              <a:buNone/>
            </a:pPr>
            <a:r>
              <a:rPr lang="en-US" sz="800" dirty="0"/>
              <a:t># TF-IDF on course descriptions</a:t>
            </a:r>
          </a:p>
          <a:p>
            <a:pPr marL="0" indent="0" algn="just">
              <a:buNone/>
            </a:pPr>
            <a:r>
              <a:rPr lang="en-US" sz="800" dirty="0" err="1"/>
              <a:t>tfidf</a:t>
            </a:r>
            <a:r>
              <a:rPr lang="en-US" sz="800" dirty="0"/>
              <a:t> = </a:t>
            </a:r>
            <a:r>
              <a:rPr lang="en-US" sz="800" dirty="0" err="1"/>
              <a:t>TfidfVectorizer</a:t>
            </a:r>
            <a:r>
              <a:rPr lang="en-US" sz="800" dirty="0"/>
              <a:t>(</a:t>
            </a:r>
            <a:r>
              <a:rPr lang="en-US" sz="800" dirty="0" err="1"/>
              <a:t>stop_words</a:t>
            </a:r>
            <a:r>
              <a:rPr lang="en-US" sz="800" dirty="0"/>
              <a:t>='</a:t>
            </a:r>
            <a:r>
              <a:rPr lang="en-US" sz="800" dirty="0" err="1"/>
              <a:t>english</a:t>
            </a:r>
            <a:r>
              <a:rPr lang="en-US" sz="800" dirty="0"/>
              <a:t>', </a:t>
            </a:r>
            <a:r>
              <a:rPr lang="en-US" sz="800" dirty="0" err="1"/>
              <a:t>max_features</a:t>
            </a:r>
            <a:r>
              <a:rPr lang="en-US" sz="800" dirty="0"/>
              <a:t>=5000)</a:t>
            </a:r>
          </a:p>
          <a:p>
            <a:pPr marL="0" indent="0" algn="just">
              <a:buNone/>
            </a:pPr>
            <a:r>
              <a:rPr lang="en-US" sz="800" dirty="0" err="1"/>
              <a:t>course_features</a:t>
            </a:r>
            <a:r>
              <a:rPr lang="en-US" sz="800" dirty="0"/>
              <a:t> = </a:t>
            </a:r>
            <a:r>
              <a:rPr lang="en-US" sz="800" dirty="0" err="1"/>
              <a:t>tfidf.fit_transform</a:t>
            </a:r>
            <a:r>
              <a:rPr lang="en-US" sz="800" dirty="0"/>
              <a:t>(</a:t>
            </a:r>
            <a:r>
              <a:rPr lang="en-US" sz="800" dirty="0" err="1"/>
              <a:t>course_descriptions</a:t>
            </a:r>
            <a:r>
              <a:rPr lang="en-US" sz="800" dirty="0"/>
              <a:t>)</a:t>
            </a:r>
          </a:p>
          <a:p>
            <a:pPr marL="0" indent="0" algn="just">
              <a:buNone/>
            </a:pPr>
            <a:endParaRPr lang="en-US" sz="800" dirty="0"/>
          </a:p>
          <a:p>
            <a:pPr marL="0" indent="0" algn="just">
              <a:buNone/>
            </a:pPr>
            <a:r>
              <a:rPr lang="en-US" sz="800" dirty="0"/>
              <a:t># User profile as weighted average</a:t>
            </a:r>
          </a:p>
          <a:p>
            <a:pPr marL="0" indent="0" algn="just">
              <a:buNone/>
            </a:pPr>
            <a:r>
              <a:rPr lang="en-US" sz="800" dirty="0" err="1"/>
              <a:t>user_profile</a:t>
            </a:r>
            <a:r>
              <a:rPr lang="en-US" sz="800" dirty="0"/>
              <a:t> = </a:t>
            </a:r>
            <a:r>
              <a:rPr lang="en-US" sz="800" dirty="0" err="1"/>
              <a:t>np.mean</a:t>
            </a:r>
            <a:r>
              <a:rPr lang="en-US" sz="800" dirty="0"/>
              <a:t>(</a:t>
            </a:r>
            <a:r>
              <a:rPr lang="en-US" sz="800" dirty="0" err="1"/>
              <a:t>course_features</a:t>
            </a:r>
            <a:r>
              <a:rPr lang="en-US" sz="800" dirty="0"/>
              <a:t>[</a:t>
            </a:r>
            <a:r>
              <a:rPr lang="en-US" sz="800" dirty="0" err="1"/>
              <a:t>user_courses_indices</a:t>
            </a:r>
            <a:r>
              <a:rPr lang="en-US" sz="800" dirty="0"/>
              <a:t>], axis=0)</a:t>
            </a:r>
          </a:p>
          <a:p>
            <a:pPr marL="0" indent="0" algn="just">
              <a:buNone/>
            </a:pPr>
            <a:r>
              <a:rPr lang="en-US" sz="800" dirty="0"/>
              <a:t>recommendations = </a:t>
            </a:r>
            <a:r>
              <a:rPr lang="en-US" sz="800" dirty="0" err="1"/>
              <a:t>cosine_similarity</a:t>
            </a:r>
            <a:r>
              <a:rPr lang="en-US" sz="800" dirty="0"/>
              <a:t>(</a:t>
            </a:r>
            <a:r>
              <a:rPr lang="en-US" sz="800" dirty="0" err="1"/>
              <a:t>user_profile</a:t>
            </a:r>
            <a:r>
              <a:rPr lang="en-US" sz="800" dirty="0"/>
              <a:t>, </a:t>
            </a:r>
            <a:r>
              <a:rPr lang="en-US" sz="800" dirty="0" err="1"/>
              <a:t>course_features</a:t>
            </a:r>
            <a:r>
              <a:rPr lang="en-US" sz="800" dirty="0"/>
              <a:t>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61756B-FA3F-8F57-208B-A925894491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5511" y="1100925"/>
            <a:ext cx="5194770" cy="553373"/>
          </a:xfrm>
        </p:spPr>
        <p:txBody>
          <a:bodyPr/>
          <a:lstStyle/>
          <a:p>
            <a:r>
              <a:rPr lang="id-ID" b="1" dirty="0"/>
              <a:t>Feature Engineering Details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481875-7870-BD68-D619-B40590BD95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56644" y="1606783"/>
            <a:ext cx="5194771" cy="235057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Text Features: Course titles, descriptions (TF-IDF, 5000 features)</a:t>
            </a:r>
          </a:p>
          <a:p>
            <a:pPr algn="just"/>
            <a:r>
              <a:rPr lang="en-US" dirty="0"/>
              <a:t>Categorical Features: Categories, levels, instructors (one-hot encoding)</a:t>
            </a:r>
          </a:p>
          <a:p>
            <a:pPr algn="just"/>
            <a:r>
              <a:rPr lang="en-US" dirty="0"/>
              <a:t>Numerical Features: Duration, rating, difficulty (min-max scaling)</a:t>
            </a:r>
          </a:p>
          <a:p>
            <a:pPr algn="just"/>
            <a:r>
              <a:rPr lang="en-US" dirty="0"/>
              <a:t>User Profile: Weighted average based on rating strength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9B1EB03-5C21-9E30-B511-72064205CE4E}"/>
              </a:ext>
            </a:extLst>
          </p:cNvPr>
          <p:cNvSpPr txBox="1">
            <a:spLocks/>
          </p:cNvSpPr>
          <p:nvPr/>
        </p:nvSpPr>
        <p:spPr>
          <a:xfrm>
            <a:off x="6495511" y="4329031"/>
            <a:ext cx="3168442" cy="5533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b="1" dirty="0"/>
              <a:t>Performance Results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8CE2AAA-9301-F4A7-0725-16BE24420F97}"/>
              </a:ext>
            </a:extLst>
          </p:cNvPr>
          <p:cNvSpPr txBox="1">
            <a:spLocks/>
          </p:cNvSpPr>
          <p:nvPr/>
        </p:nvSpPr>
        <p:spPr>
          <a:xfrm>
            <a:off x="6501937" y="4858983"/>
            <a:ext cx="4504184" cy="195598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# Evaluation Metrics</a:t>
            </a:r>
          </a:p>
          <a:p>
            <a:pPr marL="0" indent="0">
              <a:buNone/>
            </a:pPr>
            <a:r>
              <a:rPr lang="en-US" sz="1600" dirty="0"/>
              <a:t>Precision@10: 0.42</a:t>
            </a:r>
          </a:p>
          <a:p>
            <a:pPr marL="0" indent="0">
              <a:buNone/>
            </a:pPr>
            <a:r>
              <a:rPr lang="en-US" sz="1600" dirty="0"/>
              <a:t>Recall@10: 0.31</a:t>
            </a:r>
          </a:p>
          <a:p>
            <a:pPr marL="0" indent="0">
              <a:buNone/>
            </a:pPr>
            <a:r>
              <a:rPr lang="en-US" sz="1600" dirty="0"/>
              <a:t>NDCG@10: 0.38</a:t>
            </a:r>
          </a:p>
          <a:p>
            <a:pPr marL="0" indent="0">
              <a:buNone/>
            </a:pPr>
            <a:r>
              <a:rPr lang="en-US" sz="1600" dirty="0"/>
              <a:t>Coverage: 92%</a:t>
            </a:r>
          </a:p>
          <a:p>
            <a:pPr marL="0" indent="0">
              <a:buNone/>
            </a:pPr>
            <a:r>
              <a:rPr lang="en-US" sz="1600" dirty="0"/>
              <a:t>Diversity: 0.45</a:t>
            </a:r>
            <a:endParaRPr lang="id-ID" sz="1600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B4FD6B-775C-31D7-0C80-22C58A9C3B4B}"/>
              </a:ext>
            </a:extLst>
          </p:cNvPr>
          <p:cNvSpPr txBox="1">
            <a:spLocks/>
          </p:cNvSpPr>
          <p:nvPr/>
        </p:nvSpPr>
        <p:spPr>
          <a:xfrm>
            <a:off x="596119" y="4468766"/>
            <a:ext cx="3168442" cy="5533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b="1" dirty="0"/>
              <a:t>Business Case Example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FEFEB0FF-0201-260F-E866-3C872CB43AB8}"/>
              </a:ext>
            </a:extLst>
          </p:cNvPr>
          <p:cNvSpPr txBox="1">
            <a:spLocks/>
          </p:cNvSpPr>
          <p:nvPr/>
        </p:nvSpPr>
        <p:spPr>
          <a:xfrm>
            <a:off x="596119" y="4995246"/>
            <a:ext cx="3561712" cy="186275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User: "Data Scientist </a:t>
            </a:r>
            <a:r>
              <a:rPr lang="en-US" sz="1600" dirty="0" err="1"/>
              <a:t>dengan</a:t>
            </a:r>
            <a:r>
              <a:rPr lang="en-US" sz="1600" dirty="0"/>
              <a:t> interest Python dan Machine Learning"</a:t>
            </a:r>
          </a:p>
          <a:p>
            <a:pPr marL="0" indent="0">
              <a:buNone/>
            </a:pPr>
            <a:r>
              <a:rPr lang="en-US" sz="1600" dirty="0"/>
              <a:t>Recommended Courses:</a:t>
            </a:r>
          </a:p>
          <a:p>
            <a:pPr marL="0" indent="0">
              <a:buNone/>
            </a:pPr>
            <a:r>
              <a:rPr lang="en-US" sz="1600" dirty="0"/>
              <a:t>1. "Advanced Python Programming" (match: 94%)</a:t>
            </a:r>
          </a:p>
          <a:p>
            <a:pPr marL="0" indent="0">
              <a:buNone/>
            </a:pPr>
            <a:r>
              <a:rPr lang="en-US" sz="1600" dirty="0"/>
              <a:t>2. "Machine Learning A-Z" (match: 89%) </a:t>
            </a:r>
          </a:p>
          <a:p>
            <a:pPr marL="0" indent="0">
              <a:buNone/>
            </a:pPr>
            <a:r>
              <a:rPr lang="en-US" sz="1600" dirty="0"/>
              <a:t>3. "Deep Learning Specialization" (match: 85%)</a:t>
            </a:r>
          </a:p>
          <a:p>
            <a:pPr marL="0" indent="0">
              <a:buNone/>
            </a:pPr>
            <a:r>
              <a:rPr lang="en-US" sz="1600" dirty="0"/>
              <a:t>4. "Data Visualization with Python" (match: 82%)</a:t>
            </a:r>
            <a:endParaRPr lang="id-ID" sz="1600" dirty="0"/>
          </a:p>
        </p:txBody>
      </p:sp>
    </p:spTree>
    <p:extLst>
      <p:ext uri="{BB962C8B-B14F-4D97-AF65-F5344CB8AC3E}">
        <p14:creationId xmlns:p14="http://schemas.microsoft.com/office/powerpoint/2010/main" val="398757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E3E3B-75CA-6522-7A57-1A4EF3371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CF71D-1F2E-4C5D-2A15-7B3021946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119" y="412584"/>
            <a:ext cx="11029616" cy="988332"/>
          </a:xfrm>
        </p:spPr>
        <p:txBody>
          <a:bodyPr anchor="ctr"/>
          <a:lstStyle/>
          <a:p>
            <a:pPr algn="ctr"/>
            <a:r>
              <a:rPr lang="id-ID" b="1" dirty="0"/>
              <a:t>CONTENT-BASED RECOMMENDER - Course Similarity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B3ECA-BC61-00E8-3C19-06637992F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1115959"/>
            <a:ext cx="5194769" cy="557784"/>
          </a:xfrm>
        </p:spPr>
        <p:txBody>
          <a:bodyPr/>
          <a:lstStyle/>
          <a:p>
            <a:r>
              <a:rPr lang="id-ID" b="1" dirty="0"/>
              <a:t>Similarity Algorithm 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64B44-951B-1173-1D35-4D18520E4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264" y="1570618"/>
            <a:ext cx="5194766" cy="2421428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buNone/>
            </a:pPr>
            <a:r>
              <a:rPr lang="en-US" dirty="0"/>
              <a:t>def </a:t>
            </a:r>
            <a:r>
              <a:rPr lang="en-US" dirty="0" err="1"/>
              <a:t>compute_course_similarity</a:t>
            </a:r>
            <a:r>
              <a:rPr lang="en-US" dirty="0"/>
              <a:t>(</a:t>
            </a:r>
            <a:r>
              <a:rPr lang="en-US" dirty="0" err="1"/>
              <a:t>course_features</a:t>
            </a:r>
            <a:r>
              <a:rPr lang="en-US" dirty="0"/>
              <a:t>):</a:t>
            </a:r>
          </a:p>
          <a:p>
            <a:pPr marL="0" indent="0" algn="just">
              <a:buNone/>
            </a:pPr>
            <a:r>
              <a:rPr lang="en-US" dirty="0"/>
              <a:t>    # Cosine similarity matrix</a:t>
            </a:r>
          </a:p>
          <a:p>
            <a:pPr marL="0" indent="0" algn="just">
              <a:buNone/>
            </a:pPr>
            <a:r>
              <a:rPr lang="en-US" dirty="0"/>
              <a:t>    </a:t>
            </a:r>
            <a:r>
              <a:rPr lang="en-US" dirty="0" err="1"/>
              <a:t>similarity_matrix</a:t>
            </a:r>
            <a:r>
              <a:rPr lang="en-US" dirty="0"/>
              <a:t> = </a:t>
            </a:r>
            <a:r>
              <a:rPr lang="en-US" dirty="0" err="1"/>
              <a:t>cosine_similarity</a:t>
            </a:r>
            <a:r>
              <a:rPr lang="en-US" dirty="0"/>
              <a:t>(</a:t>
            </a:r>
            <a:r>
              <a:rPr lang="en-US" dirty="0" err="1"/>
              <a:t>course_features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/>
              <a:t>    </a:t>
            </a:r>
          </a:p>
          <a:p>
            <a:pPr marL="0" indent="0" algn="just">
              <a:buNone/>
            </a:pPr>
            <a:r>
              <a:rPr lang="en-US" dirty="0"/>
              <a:t>    # Jaccard similarity for categorical features</a:t>
            </a:r>
          </a:p>
          <a:p>
            <a:pPr marL="0" indent="0" algn="just">
              <a:buNone/>
            </a:pPr>
            <a:r>
              <a:rPr lang="en-US" dirty="0"/>
              <a:t>    </a:t>
            </a:r>
            <a:r>
              <a:rPr lang="en-US" dirty="0" err="1"/>
              <a:t>jaccard_sim</a:t>
            </a:r>
            <a:r>
              <a:rPr lang="en-US" dirty="0"/>
              <a:t> = </a:t>
            </a:r>
            <a:r>
              <a:rPr lang="en-US" dirty="0" err="1"/>
              <a:t>pairwise_distances</a:t>
            </a:r>
            <a:r>
              <a:rPr lang="en-US" dirty="0"/>
              <a:t>(</a:t>
            </a:r>
            <a:r>
              <a:rPr lang="en-US" dirty="0" err="1"/>
              <a:t>categorical_features</a:t>
            </a:r>
            <a:r>
              <a:rPr lang="en-US" dirty="0"/>
              <a:t>, </a:t>
            </a:r>
          </a:p>
          <a:p>
            <a:pPr marL="0" indent="0" algn="just">
              <a:buNone/>
            </a:pPr>
            <a:r>
              <a:rPr lang="en-US" dirty="0"/>
              <a:t>                                   metric=</a:t>
            </a:r>
            <a:r>
              <a:rPr lang="en-US" dirty="0" err="1"/>
              <a:t>jaccard_similarity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/>
              <a:t>    </a:t>
            </a:r>
          </a:p>
          <a:p>
            <a:pPr marL="0" indent="0" algn="just">
              <a:buNone/>
            </a:pPr>
            <a:r>
              <a:rPr lang="en-US" dirty="0"/>
              <a:t>    # Hybrid weighted similarity</a:t>
            </a:r>
          </a:p>
          <a:p>
            <a:pPr marL="0" indent="0" algn="just">
              <a:buNone/>
            </a:pPr>
            <a:r>
              <a:rPr lang="en-US" dirty="0"/>
              <a:t>    </a:t>
            </a:r>
            <a:r>
              <a:rPr lang="en-US" dirty="0" err="1"/>
              <a:t>hybrid_sim</a:t>
            </a:r>
            <a:r>
              <a:rPr lang="en-US" dirty="0"/>
              <a:t> = 0.7 * </a:t>
            </a:r>
            <a:r>
              <a:rPr lang="en-US" dirty="0" err="1"/>
              <a:t>similarity_matrix</a:t>
            </a:r>
            <a:r>
              <a:rPr lang="en-US" dirty="0"/>
              <a:t> + 0.3 * </a:t>
            </a:r>
            <a:r>
              <a:rPr lang="en-US" dirty="0" err="1"/>
              <a:t>jaccard_sim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    return </a:t>
            </a:r>
            <a:r>
              <a:rPr lang="en-US" dirty="0" err="1"/>
              <a:t>hybrid_sim</a:t>
            </a:r>
            <a:endParaRPr lang="id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348846-8567-6B18-C2E5-B6B6B72A29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30965" y="1061205"/>
            <a:ext cx="5194770" cy="553373"/>
          </a:xfrm>
        </p:spPr>
        <p:txBody>
          <a:bodyPr/>
          <a:lstStyle/>
          <a:p>
            <a:r>
              <a:rPr lang="id-ID" b="1" dirty="0"/>
              <a:t>Course Similarity Matrix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9D276F-7EA2-6010-533F-829DDD48B4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30965" y="1485482"/>
            <a:ext cx="5194771" cy="235057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id-ID" dirty="0"/>
              <a:t>Cluster Analysis: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d-ID" dirty="0"/>
              <a:t>Strong Tech Cluster: Python, Java, Web Development courses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d-ID" dirty="0"/>
              <a:t>Business Cluster: Management, Finance, Marketing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d-ID" dirty="0"/>
              <a:t>Data Science Cluster: ML, Statistics, Visualization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d-ID" dirty="0"/>
              <a:t>Cross-disciplinary: Business Analytics, Data-driven Decision Making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0D451E9-5E38-DBA7-7293-9C0365F8C0EB}"/>
              </a:ext>
            </a:extLst>
          </p:cNvPr>
          <p:cNvSpPr txBox="1">
            <a:spLocks/>
          </p:cNvSpPr>
          <p:nvPr/>
        </p:nvSpPr>
        <p:spPr>
          <a:xfrm>
            <a:off x="3895008" y="3908340"/>
            <a:ext cx="3761906" cy="5533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d-ID" b="1" dirty="0"/>
              <a:t>Real Recommendation Example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1FD06FC-E625-2D09-7109-947493CC339A}"/>
              </a:ext>
            </a:extLst>
          </p:cNvPr>
          <p:cNvSpPr txBox="1">
            <a:spLocks/>
          </p:cNvSpPr>
          <p:nvPr/>
        </p:nvSpPr>
        <p:spPr>
          <a:xfrm>
            <a:off x="3201882" y="4446705"/>
            <a:ext cx="5826468" cy="235057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/>
              <a:t># Input: User completed "Introduction to Python"</a:t>
            </a:r>
          </a:p>
          <a:p>
            <a:pPr marL="0" indent="0" algn="just">
              <a:buNone/>
            </a:pPr>
            <a:r>
              <a:rPr lang="en-US" dirty="0" err="1"/>
              <a:t>similar_courses</a:t>
            </a:r>
            <a:r>
              <a:rPr lang="en-US" dirty="0"/>
              <a:t> = </a:t>
            </a:r>
            <a:r>
              <a:rPr lang="en-US" dirty="0" err="1"/>
              <a:t>similarity_matrix</a:t>
            </a:r>
            <a:r>
              <a:rPr lang="en-US" dirty="0"/>
              <a:t>[</a:t>
            </a:r>
            <a:r>
              <a:rPr lang="en-US" dirty="0" err="1"/>
              <a:t>python_course_index</a:t>
            </a:r>
            <a:r>
              <a:rPr lang="en-US" dirty="0"/>
              <a:t>].</a:t>
            </a:r>
            <a:r>
              <a:rPr lang="en-US" dirty="0" err="1"/>
              <a:t>argsort</a:t>
            </a:r>
            <a:r>
              <a:rPr lang="en-US" dirty="0"/>
              <a:t>()[-10:][::-1]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# Output Recommendations:</a:t>
            </a:r>
          </a:p>
          <a:p>
            <a:pPr marL="0" indent="0" algn="just">
              <a:buNone/>
            </a:pPr>
            <a:r>
              <a:rPr lang="en-US" dirty="0"/>
              <a:t>1. "Python for Data Science" (similarity: 0.92)</a:t>
            </a:r>
          </a:p>
          <a:p>
            <a:pPr marL="0" indent="0" algn="just">
              <a:buNone/>
            </a:pPr>
            <a:r>
              <a:rPr lang="en-US" dirty="0"/>
              <a:t>2. "Web Development with Django" (similarity: 0.88)</a:t>
            </a:r>
          </a:p>
          <a:p>
            <a:pPr marL="0" indent="0" algn="just">
              <a:buNone/>
            </a:pPr>
            <a:r>
              <a:rPr lang="en-US" dirty="0"/>
              <a:t>3. "Automation with Python" (similarity: 0.85)</a:t>
            </a:r>
          </a:p>
          <a:p>
            <a:pPr marL="0" indent="0" algn="just">
              <a:buNone/>
            </a:pPr>
            <a:r>
              <a:rPr lang="en-US" dirty="0"/>
              <a:t>4. "Data Structures in Python" (similarity: 0.83)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79578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66C7-8BD8-DA67-1ECB-643310AF8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id-ID" b="1" dirty="0"/>
              <a:t>CONTENT-BASED RECOMMENDER - Course Similarity</a:t>
            </a:r>
            <a:br>
              <a:rPr lang="en-US" b="1" dirty="0"/>
            </a:br>
            <a:r>
              <a:rPr lang="en-US" sz="2000" b="1" dirty="0"/>
              <a:t>Comparative performance</a:t>
            </a:r>
            <a:endParaRPr lang="id-ID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03A61D1-3344-5ED1-B056-E7AC2C343C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3548809"/>
              </p:ext>
            </p:extLst>
          </p:nvPr>
        </p:nvGraphicFramePr>
        <p:xfrm>
          <a:off x="581025" y="2341563"/>
          <a:ext cx="1102995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2221801219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1966847681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9042575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Metric</a:t>
                      </a:r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User Profile</a:t>
                      </a:r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Course Similarity</a:t>
                      </a:r>
                      <a:endParaRPr lang="id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137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Precision@10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0.42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0.48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936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Recall@10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0.37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685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Novelty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0.28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0.52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321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Coverage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92%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88%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669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3968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FC3BC-3021-C78D-81A1-7D7636324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id-ID" b="1" dirty="0"/>
              <a:t>CONTENT-BASED RECOMMENDER - User Profile Clustering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FE2E7-D648-B126-7547-466FB1637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b="1" dirty="0"/>
              <a:t>Clustering Implementation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EED97-A241-780C-8063-19C0AB655D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id-ID" dirty="0"/>
              <a:t>from sklearn.cluster import KMeans</a:t>
            </a:r>
          </a:p>
          <a:p>
            <a:pPr marL="0" indent="0" algn="just">
              <a:buNone/>
            </a:pPr>
            <a:r>
              <a:rPr lang="id-ID" dirty="0"/>
              <a:t>from sklearn.preprocessing import StandardScaler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dirty="0"/>
              <a:t># Feature preparation</a:t>
            </a:r>
          </a:p>
          <a:p>
            <a:pPr marL="0" indent="0" algn="just">
              <a:buNone/>
            </a:pPr>
            <a:r>
              <a:rPr lang="id-ID" dirty="0"/>
              <a:t>user_features = prepare_user_features(ratings_df, users_df)</a:t>
            </a:r>
          </a:p>
          <a:p>
            <a:pPr marL="0" indent="0" algn="just">
              <a:buNone/>
            </a:pPr>
            <a:r>
              <a:rPr lang="id-ID" dirty="0"/>
              <a:t>scaler = StandardScaler()</a:t>
            </a:r>
          </a:p>
          <a:p>
            <a:pPr marL="0" indent="0" algn="just">
              <a:buNone/>
            </a:pPr>
            <a:r>
              <a:rPr lang="id-ID" dirty="0"/>
              <a:t>user_features_scaled = scaler.fit_transform(user_features)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dirty="0"/>
              <a:t># Optimal K selection using elbow method</a:t>
            </a:r>
          </a:p>
          <a:p>
            <a:pPr marL="0" indent="0" algn="just">
              <a:buNone/>
            </a:pPr>
            <a:r>
              <a:rPr lang="id-ID" dirty="0"/>
              <a:t>kmeans = KMeans(n_clusters=5, random_state=42)</a:t>
            </a:r>
          </a:p>
          <a:p>
            <a:pPr marL="0" indent="0" algn="just">
              <a:buNone/>
            </a:pPr>
            <a:r>
              <a:rPr lang="id-ID" dirty="0"/>
              <a:t>user_clusters = kmeans.fit_predict(user_features_scaled)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6522C8-3598-E7F9-0905-5334451FC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Elbow Method Analysis</a:t>
            </a:r>
            <a:endParaRPr lang="id-ID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48BA47-5277-16F2-415C-632D29C759D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Cluster Quality Metrics: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Silhouette Score: 0.68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Inertia: 2450.34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Cluster Balance: Good (no cluster &lt;8%)</a:t>
            </a:r>
          </a:p>
        </p:txBody>
      </p:sp>
    </p:spTree>
    <p:extLst>
      <p:ext uri="{BB962C8B-B14F-4D97-AF65-F5344CB8AC3E}">
        <p14:creationId xmlns:p14="http://schemas.microsoft.com/office/powerpoint/2010/main" val="3535005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89AEE-DD2E-2DFD-F565-710638C6E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id-ID" b="1" dirty="0"/>
              <a:t>CONTENT-BASED RECOMMENDER - User Profile Clustering</a:t>
            </a:r>
            <a:br>
              <a:rPr lang="id-ID" b="1" dirty="0"/>
            </a:br>
            <a:r>
              <a:rPr lang="id-ID" sz="1900" b="1" dirty="0"/>
              <a:t>User Segments Characterization</a:t>
            </a:r>
            <a:endParaRPr lang="id-ID" sz="1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97FC5-17AD-86DC-4BF5-8EAC01FCB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fontScale="92500" lnSpcReduction="20000"/>
          </a:bodyPr>
          <a:lstStyle/>
          <a:p>
            <a:pPr marL="0" indent="0" algn="just">
              <a:buNone/>
              <a:tabLst>
                <a:tab pos="5470525" algn="l"/>
              </a:tabLst>
            </a:pPr>
            <a:r>
              <a:rPr lang="en-US" sz="1400" dirty="0"/>
              <a:t>Cluster 1: Tech Enthusiasts (28%)	</a:t>
            </a:r>
            <a:r>
              <a:rPr lang="en-US" sz="1300" dirty="0"/>
              <a:t>Cluster 4: Career Advancers (18%)</a:t>
            </a:r>
          </a:p>
          <a:p>
            <a:pPr marL="342900" indent="-342900" algn="just">
              <a:buFont typeface="+mj-lt"/>
              <a:buAutoNum type="arabicPeriod"/>
              <a:tabLst>
                <a:tab pos="5470525" algn="l"/>
              </a:tabLst>
            </a:pPr>
            <a:r>
              <a:rPr lang="en-US" sz="1400" dirty="0"/>
              <a:t>Behavior: Banyak enroll technical courses, high completion rates	</a:t>
            </a:r>
            <a:r>
              <a:rPr lang="en-US" sz="1300" dirty="0"/>
              <a:t>1. </a:t>
            </a:r>
            <a:r>
              <a:rPr lang="id-ID" sz="1400" dirty="0"/>
              <a:t>Behavior: Goal-oriented, completion-focused</a:t>
            </a:r>
            <a:endParaRPr lang="en-US" sz="1400" dirty="0"/>
          </a:p>
          <a:p>
            <a:pPr marL="342900" indent="-342900" algn="just">
              <a:buFont typeface="+mj-lt"/>
              <a:buAutoNum type="arabicPeriod"/>
              <a:tabLst>
                <a:tab pos="5470525" algn="l"/>
              </a:tabLst>
            </a:pPr>
            <a:r>
              <a:rPr lang="en-US" sz="1400" dirty="0"/>
              <a:t>Preferences: Programming, Data Science, AI/ML	</a:t>
            </a:r>
            <a:r>
              <a:rPr lang="en-US" sz="1300" dirty="0"/>
              <a:t>2. </a:t>
            </a:r>
            <a:r>
              <a:rPr lang="en-US" sz="1400" dirty="0"/>
              <a:t>Preferences: Certifications, hard skills, industry-specific</a:t>
            </a:r>
          </a:p>
          <a:p>
            <a:pPr marL="342900" indent="-342900" algn="just">
              <a:buFont typeface="+mj-lt"/>
              <a:buAutoNum type="arabicPeriod"/>
              <a:tabLst>
                <a:tab pos="5470525" algn="l"/>
              </a:tabLst>
            </a:pPr>
            <a:r>
              <a:rPr lang="en-US" sz="1400" dirty="0"/>
              <a:t>Recommendation Strategy: Advanced technical content	</a:t>
            </a:r>
            <a:r>
              <a:rPr lang="en-US" sz="1300" dirty="0"/>
              <a:t>3. </a:t>
            </a:r>
            <a:r>
              <a:rPr lang="en-US" sz="1400" dirty="0"/>
              <a:t>Recommendation Strategy: Career paths, skill bundles</a:t>
            </a:r>
          </a:p>
          <a:p>
            <a:pPr marL="0" indent="0" algn="just">
              <a:buNone/>
              <a:tabLst>
                <a:tab pos="5470525" algn="l"/>
              </a:tabLst>
            </a:pPr>
            <a:r>
              <a:rPr lang="en-US" sz="1400" dirty="0"/>
              <a:t>Cluster 2: Business Professionals (24%)	</a:t>
            </a:r>
            <a:r>
              <a:rPr lang="en-US" sz="1300" dirty="0"/>
              <a:t>Cluster 5: Casual Explorers (10%)</a:t>
            </a:r>
          </a:p>
          <a:p>
            <a:pPr marL="342900" indent="-342900" algn="just">
              <a:buFont typeface="+mj-lt"/>
              <a:buAutoNum type="arabicPeriod"/>
              <a:tabLst>
                <a:tab pos="5470525" algn="l"/>
              </a:tabLst>
            </a:pPr>
            <a:r>
              <a:rPr lang="en-US" sz="1400" dirty="0"/>
              <a:t>Behavior: Weekend learning, certificate-focused	</a:t>
            </a:r>
            <a:r>
              <a:rPr lang="en-US" sz="1300" dirty="0"/>
              <a:t>1.</a:t>
            </a:r>
            <a:r>
              <a:rPr lang="en-US" sz="1400" dirty="0"/>
              <a:t> Behavior: Short sessions, low completion rates</a:t>
            </a:r>
          </a:p>
          <a:p>
            <a:pPr marL="342900" indent="-342900" algn="just">
              <a:buFont typeface="+mj-lt"/>
              <a:buAutoNum type="arabicPeriod"/>
              <a:tabLst>
                <a:tab pos="5470525" algn="l"/>
              </a:tabLst>
            </a:pPr>
            <a:r>
              <a:rPr lang="en-US" sz="1400" dirty="0"/>
              <a:t>Preferences: Management, Leadership, Strategy	</a:t>
            </a:r>
            <a:r>
              <a:rPr lang="en-US" sz="1300" dirty="0"/>
              <a:t>2. </a:t>
            </a:r>
            <a:r>
              <a:rPr lang="en-US" sz="1400" dirty="0"/>
              <a:t>Preferences: Bite-sized content, popular topics</a:t>
            </a:r>
          </a:p>
          <a:p>
            <a:pPr marL="342900" indent="-342900" algn="just">
              <a:buFont typeface="+mj-lt"/>
              <a:buAutoNum type="arabicPeriod"/>
              <a:tabLst>
                <a:tab pos="5470525" algn="l"/>
              </a:tabLst>
            </a:pPr>
            <a:r>
              <a:rPr lang="en-US" sz="1400" dirty="0"/>
              <a:t>Recommendation Strategy: Business cases, practical applications	</a:t>
            </a:r>
            <a:r>
              <a:rPr lang="en-US" sz="1200" dirty="0"/>
              <a:t>3. </a:t>
            </a:r>
            <a:r>
              <a:rPr lang="en-US" sz="1400" dirty="0"/>
              <a:t>Recommendation Strategy: Introductory courses, high-rated content</a:t>
            </a:r>
          </a:p>
          <a:p>
            <a:pPr marL="0" indent="0" algn="just">
              <a:buNone/>
            </a:pPr>
            <a:r>
              <a:rPr lang="en-US" sz="1400" dirty="0"/>
              <a:t>Cluster 3: Lifelong Learners (20%)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/>
              <a:t>Behavior: Diverse interests, exploratory learning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/>
              <a:t>Preferences: Arts, Sciences, Personal Development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/>
              <a:t>Recommendation Strategy: Cross-disciplinary content</a:t>
            </a:r>
          </a:p>
          <a:p>
            <a:pPr marL="0" indent="0" algn="just">
              <a:buNone/>
            </a:pPr>
            <a:endParaRPr lang="en-US" sz="1400" dirty="0"/>
          </a:p>
          <a:p>
            <a:pPr marL="0" indent="0" algn="just">
              <a:buNone/>
            </a:pPr>
            <a:endParaRPr lang="id-ID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F8769-DEDC-A9AD-7522-0A0D1437A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027B17D-CD0D-4640-9BEA-4EA862DC1A8A}" type="datetime1">
              <a:rPr lang="id-ID" smtClean="0"/>
              <a:t>21/11/2025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5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58239-3249-2BF8-6C92-A19C6C802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id-ID" b="1" dirty="0"/>
              <a:t>COLLABORATIVE FILTERING - KNN Approach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C0D74-FEEF-24A5-98F3-A81606806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1" y="1485344"/>
            <a:ext cx="5194769" cy="557784"/>
          </a:xfrm>
        </p:spPr>
        <p:txBody>
          <a:bodyPr/>
          <a:lstStyle/>
          <a:p>
            <a:r>
              <a:rPr lang="en-US" b="1" dirty="0"/>
              <a:t>Implementation Code</a:t>
            </a:r>
            <a:endParaRPr lang="id-ID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37294-576B-7BB8-65B1-77533AF5B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4" y="1995545"/>
            <a:ext cx="5373164" cy="4793494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id-ID" dirty="0"/>
              <a:t>from surprise import KNNBasic</a:t>
            </a:r>
          </a:p>
          <a:p>
            <a:pPr marL="0" indent="0" algn="just">
              <a:buNone/>
            </a:pPr>
            <a:r>
              <a:rPr lang="id-ID" dirty="0"/>
              <a:t>from surprise import Dataset</a:t>
            </a:r>
          </a:p>
          <a:p>
            <a:pPr marL="0" indent="0" algn="just">
              <a:buNone/>
            </a:pPr>
            <a:r>
              <a:rPr lang="id-ID" dirty="0"/>
              <a:t>from surprise import Reader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dirty="0"/>
              <a:t># Load data into Surprise format</a:t>
            </a:r>
          </a:p>
          <a:p>
            <a:pPr marL="0" indent="0" algn="just">
              <a:buNone/>
            </a:pPr>
            <a:r>
              <a:rPr lang="id-ID" dirty="0"/>
              <a:t>reader = Reader(rating_scale=(1, 5))</a:t>
            </a:r>
          </a:p>
          <a:p>
            <a:pPr marL="0" indent="0" algn="just">
              <a:buNone/>
            </a:pPr>
            <a:r>
              <a:rPr lang="id-ID" dirty="0"/>
              <a:t>data = Dataset.load_from_df(ratings_df[['user_id', 'course_id', 'rating']], reader)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dirty="0"/>
              <a:t># Item-based KNN configuration</a:t>
            </a:r>
          </a:p>
          <a:p>
            <a:pPr marL="0" indent="0" algn="just">
              <a:buNone/>
            </a:pPr>
            <a:r>
              <a:rPr lang="id-ID" dirty="0"/>
              <a:t>sim_options = {</a:t>
            </a:r>
          </a:p>
          <a:p>
            <a:pPr marL="0" indent="0" algn="just">
              <a:buNone/>
            </a:pPr>
            <a:r>
              <a:rPr lang="id-ID" dirty="0"/>
              <a:t>    'name': 'cosine',</a:t>
            </a:r>
          </a:p>
          <a:p>
            <a:pPr marL="0" indent="0" algn="just">
              <a:buNone/>
            </a:pPr>
            <a:r>
              <a:rPr lang="id-ID" dirty="0"/>
              <a:t>    'user_based': False,  # Item-based approach</a:t>
            </a:r>
          </a:p>
          <a:p>
            <a:pPr marL="0" indent="0" algn="just">
              <a:buNone/>
            </a:pPr>
            <a:r>
              <a:rPr lang="id-ID" dirty="0"/>
              <a:t>    'min_support': 3</a:t>
            </a:r>
          </a:p>
          <a:p>
            <a:pPr marL="0" indent="0" algn="just">
              <a:buNone/>
            </a:pPr>
            <a:r>
              <a:rPr lang="id-ID" dirty="0"/>
              <a:t>}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dirty="0"/>
              <a:t># Model training</a:t>
            </a:r>
          </a:p>
          <a:p>
            <a:pPr marL="0" indent="0" algn="just">
              <a:buNone/>
            </a:pPr>
            <a:r>
              <a:rPr lang="id-ID" dirty="0"/>
              <a:t>knn = KNNBasic(k=50, sim_options=sim_options)</a:t>
            </a:r>
          </a:p>
          <a:p>
            <a:pPr marL="0" indent="0" algn="just">
              <a:buNone/>
            </a:pPr>
            <a:r>
              <a:rPr lang="id-ID" dirty="0"/>
              <a:t>knn.fit(trainset)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C0E95A-A505-2E47-E4E9-88FBD5CD3B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6037" y="1485344"/>
            <a:ext cx="5194770" cy="553373"/>
          </a:xfrm>
        </p:spPr>
        <p:txBody>
          <a:bodyPr/>
          <a:lstStyle/>
          <a:p>
            <a:r>
              <a:rPr lang="en-US" dirty="0"/>
              <a:t>Hyperparameter Tuning Results</a:t>
            </a:r>
            <a:endParaRPr lang="id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C99D5A-807F-F46B-F66A-CF4E95682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6037" y="2038717"/>
            <a:ext cx="5194771" cy="448579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# Grid Search Results</a:t>
            </a:r>
          </a:p>
          <a:p>
            <a:pPr marL="0" indent="0" algn="just">
              <a:buNone/>
            </a:pPr>
            <a:r>
              <a:rPr lang="en-US" dirty="0"/>
              <a:t>Best Parameters:</a:t>
            </a:r>
          </a:p>
          <a:p>
            <a:pPr marL="0" indent="0" algn="just">
              <a:buNone/>
            </a:pPr>
            <a:r>
              <a:rPr lang="en-US" dirty="0"/>
              <a:t>- k: 50 neighbors</a:t>
            </a:r>
          </a:p>
          <a:p>
            <a:pPr marL="0" indent="0" algn="just">
              <a:buNone/>
            </a:pPr>
            <a:r>
              <a:rPr lang="en-US" dirty="0"/>
              <a:t>- Similarity: Cosine</a:t>
            </a:r>
          </a:p>
          <a:p>
            <a:pPr marL="0" indent="0" algn="just">
              <a:buNone/>
            </a:pPr>
            <a:r>
              <a:rPr lang="en-US" dirty="0"/>
              <a:t>- Minimum Support: 5 users</a:t>
            </a:r>
          </a:p>
          <a:p>
            <a:pPr marL="0" indent="0" algn="just">
              <a:buNone/>
            </a:pPr>
            <a:r>
              <a:rPr lang="en-US" dirty="0"/>
              <a:t>- Shrinking: True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# Performance Metrics:</a:t>
            </a:r>
          </a:p>
          <a:p>
            <a:pPr marL="0" indent="0" algn="just">
              <a:buNone/>
            </a:pPr>
            <a:r>
              <a:rPr lang="en-US" dirty="0"/>
              <a:t>RMSE: 0.94</a:t>
            </a:r>
          </a:p>
          <a:p>
            <a:pPr marL="0" indent="0" algn="just">
              <a:buNone/>
            </a:pPr>
            <a:r>
              <a:rPr lang="en-US" dirty="0"/>
              <a:t>MAE: 0.72</a:t>
            </a:r>
          </a:p>
          <a:p>
            <a:pPr marL="0" indent="0" algn="just">
              <a:buNone/>
            </a:pPr>
            <a:r>
              <a:rPr lang="en-US" dirty="0"/>
              <a:t>Precision@10: 0.58</a:t>
            </a:r>
          </a:p>
          <a:p>
            <a:pPr marL="0" indent="0" algn="just">
              <a:buNone/>
            </a:pPr>
            <a:r>
              <a:rPr lang="en-US" dirty="0"/>
              <a:t>Recall@10: 0.41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741873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937B-E1E0-4F7E-83CD-BB12BEF1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id-ID" b="1" dirty="0"/>
              <a:t>COLLABORATIVE FILTERING - KNN Approach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A56BC-B74C-0264-6564-2BE9C8DA4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b="1" dirty="0"/>
              <a:t>Item-Based vs User-Based Comparison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CFD4094-79D9-52DD-769B-885B9D0262B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13458481"/>
              </p:ext>
            </p:extLst>
          </p:nvPr>
        </p:nvGraphicFramePr>
        <p:xfrm>
          <a:off x="581025" y="2925763"/>
          <a:ext cx="519429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1433">
                  <a:extLst>
                    <a:ext uri="{9D8B030D-6E8A-4147-A177-3AD203B41FA5}">
                      <a16:colId xmlns:a16="http://schemas.microsoft.com/office/drawing/2014/main" val="3255050181"/>
                    </a:ext>
                  </a:extLst>
                </a:gridCol>
                <a:gridCol w="1731433">
                  <a:extLst>
                    <a:ext uri="{9D8B030D-6E8A-4147-A177-3AD203B41FA5}">
                      <a16:colId xmlns:a16="http://schemas.microsoft.com/office/drawing/2014/main" val="3001529706"/>
                    </a:ext>
                  </a:extLst>
                </a:gridCol>
                <a:gridCol w="1731433">
                  <a:extLst>
                    <a:ext uri="{9D8B030D-6E8A-4147-A177-3AD203B41FA5}">
                      <a16:colId xmlns:a16="http://schemas.microsoft.com/office/drawing/2014/main" val="942096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Metric</a:t>
                      </a:r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User-Based</a:t>
                      </a:r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Item-Based</a:t>
                      </a:r>
                      <a:endParaRPr lang="id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434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Precision@10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0.58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998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Recall@10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0.32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0.41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797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Coverage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45%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68%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519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 Time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45s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28s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833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Prediction Time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Fast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618532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D82D84-8B9A-3E35-C0BA-8CBDD532C3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d-ID" b="1" dirty="0"/>
              <a:t>Business Use Cases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9D284C-7A23-08B0-A8E0-6A02DAA81CB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id-ID" dirty="0"/>
              <a:t>Stable Catalog: Ketika course inventory tidak sering berubah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id-ID" dirty="0"/>
              <a:t>Transparent Recommendations: "Karena Anda suka course X“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id-ID" dirty="0"/>
              <a:t>Quick Implementation: Prototyping dan MVP development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id-ID" dirty="0"/>
              <a:t>Interpretable Results: Mudah dijelaskan ke stakeholders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57E432-2A7F-0065-21AB-75082B39F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1169151-2B8E-4514-9C91-C2B85311DF59}" type="datetime1">
              <a:rPr lang="id-ID" smtClean="0"/>
              <a:t>21/11/2025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48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7091C-71C5-BBF2-54EE-45EB5B28E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id-ID" b="1" dirty="0"/>
              <a:t>COLLABORATIVE FILTERING - NMF Approach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EB365-7760-A953-254C-88D94C68D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1" y="1314975"/>
            <a:ext cx="5194769" cy="557784"/>
          </a:xfrm>
        </p:spPr>
        <p:txBody>
          <a:bodyPr/>
          <a:lstStyle/>
          <a:p>
            <a:r>
              <a:rPr lang="id-ID" b="1" dirty="0"/>
              <a:t>Matrix Factorization Implementation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AC08-BF26-130C-096E-01BD5A127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4" y="1920240"/>
            <a:ext cx="5194766" cy="394081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d-ID" dirty="0"/>
              <a:t>from surprise import NMF</a:t>
            </a:r>
          </a:p>
          <a:p>
            <a:pPr marL="0" indent="0">
              <a:buNone/>
            </a:pPr>
            <a:r>
              <a:rPr lang="id-ID" dirty="0"/>
              <a:t>from surprise.model_selection import cross_validate</a:t>
            </a:r>
          </a:p>
          <a:p>
            <a:pPr marL="0" indent="0">
              <a:buNone/>
            </a:pPr>
            <a:endParaRPr lang="id-ID" dirty="0"/>
          </a:p>
          <a:p>
            <a:pPr marL="0" indent="0">
              <a:buNone/>
            </a:pPr>
            <a:r>
              <a:rPr lang="id-ID" dirty="0"/>
              <a:t># Non-negative Matrix Factorization</a:t>
            </a:r>
          </a:p>
          <a:p>
            <a:pPr marL="0" indent="0">
              <a:buNone/>
            </a:pPr>
            <a:r>
              <a:rPr lang="id-ID" dirty="0"/>
              <a:t>nmf = NMF(n_factors=15, random_state=42)</a:t>
            </a:r>
          </a:p>
          <a:p>
            <a:pPr marL="0" indent="0">
              <a:buNone/>
            </a:pPr>
            <a:endParaRPr lang="id-ID" dirty="0"/>
          </a:p>
          <a:p>
            <a:pPr marL="0" indent="0">
              <a:buNone/>
            </a:pPr>
            <a:r>
              <a:rPr lang="id-ID" dirty="0"/>
              <a:t># Cross-validation</a:t>
            </a:r>
          </a:p>
          <a:p>
            <a:pPr marL="0" indent="0">
              <a:buNone/>
            </a:pPr>
            <a:r>
              <a:rPr lang="id-ID" dirty="0"/>
              <a:t>cv_results = cross_validate(nmf, data, measures=['RMSE', 'MAE'], cv=5, verbose=True)</a:t>
            </a:r>
          </a:p>
          <a:p>
            <a:pPr marL="0" indent="0">
              <a:buNone/>
            </a:pPr>
            <a:endParaRPr lang="id-ID" dirty="0"/>
          </a:p>
          <a:p>
            <a:pPr marL="0" indent="0">
              <a:buNone/>
            </a:pPr>
            <a:r>
              <a:rPr lang="id-ID" dirty="0"/>
              <a:t># Training final model</a:t>
            </a:r>
          </a:p>
          <a:p>
            <a:pPr marL="0" indent="0">
              <a:buNone/>
            </a:pPr>
            <a:r>
              <a:rPr lang="id-ID" dirty="0"/>
              <a:t>trainset = data.build_full_trainset()</a:t>
            </a:r>
          </a:p>
          <a:p>
            <a:pPr marL="0" indent="0">
              <a:buNone/>
            </a:pPr>
            <a:r>
              <a:rPr lang="id-ID" dirty="0"/>
              <a:t>nmf.fit(trainset)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FFD3D0-FFEC-682C-72DD-847DD3878F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6036" y="1366867"/>
            <a:ext cx="5194770" cy="553373"/>
          </a:xfrm>
        </p:spPr>
        <p:txBody>
          <a:bodyPr/>
          <a:lstStyle/>
          <a:p>
            <a:r>
              <a:rPr lang="id-ID" b="1" dirty="0"/>
              <a:t>Latent Factors Interpretation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C030AE-D217-5119-586C-A05AD07CEE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6037" y="1920240"/>
            <a:ext cx="5194771" cy="3940811"/>
          </a:xfrm>
        </p:spPr>
        <p:txBody>
          <a:bodyPr>
            <a:normAutofit/>
          </a:bodyPr>
          <a:lstStyle/>
          <a:p>
            <a:r>
              <a:rPr lang="en-US" sz="1300" dirty="0"/>
              <a:t>Factor 1 – “Technical Depth”</a:t>
            </a:r>
          </a:p>
          <a:p>
            <a:pPr marL="628650" indent="-342900">
              <a:buFont typeface="+mj-lt"/>
              <a:buAutoNum type="arabicPeriod"/>
            </a:pPr>
            <a:r>
              <a:rPr lang="en-US" sz="1300" dirty="0"/>
              <a:t>High Weights: </a:t>
            </a:r>
            <a:r>
              <a:rPr lang="id-ID" sz="1300" dirty="0"/>
              <a:t>Programming, Algorithms, Mathematics</a:t>
            </a:r>
            <a:endParaRPr lang="en-US" sz="1300" dirty="0"/>
          </a:p>
          <a:p>
            <a:pPr marL="628650" indent="-342900">
              <a:buFont typeface="+mj-lt"/>
              <a:buAutoNum type="arabicPeriod"/>
            </a:pPr>
            <a:r>
              <a:rPr lang="en-US" sz="1300" dirty="0"/>
              <a:t>Courses: "Advanced Python", "Data Structures", "Machine Learning“</a:t>
            </a:r>
          </a:p>
          <a:p>
            <a:r>
              <a:rPr lang="en-US" sz="1300" dirty="0"/>
              <a:t>Factor 2 – “Business Practicality”</a:t>
            </a:r>
          </a:p>
          <a:p>
            <a:pPr marL="628650" indent="-342900">
              <a:buFont typeface="+mj-lt"/>
              <a:buAutoNum type="arabicPeriod"/>
            </a:pPr>
            <a:r>
              <a:rPr lang="en-US" sz="1300" dirty="0"/>
              <a:t>High weights: Case Studies, Real-world Applications</a:t>
            </a:r>
          </a:p>
          <a:p>
            <a:pPr marL="628650" indent="-342900">
              <a:buFont typeface="+mj-lt"/>
              <a:buAutoNum type="arabicPeriod"/>
            </a:pPr>
            <a:r>
              <a:rPr lang="en-US" sz="1300" dirty="0"/>
              <a:t>Courses: "Business Strategy", "Marketing Analytics“</a:t>
            </a:r>
          </a:p>
          <a:p>
            <a:r>
              <a:rPr lang="en-US" sz="1300" dirty="0"/>
              <a:t>Factor 3 – “Theoretical Foundation”</a:t>
            </a:r>
          </a:p>
          <a:p>
            <a:pPr marL="628650" indent="-342900">
              <a:buFont typeface="+mj-lt"/>
              <a:buAutoNum type="arabicPeriod"/>
            </a:pPr>
            <a:r>
              <a:rPr lang="en-US" sz="1300" dirty="0"/>
              <a:t>High weights: Academic, Conceptual, Research-oriented</a:t>
            </a:r>
          </a:p>
          <a:p>
            <a:pPr marL="628650" indent="-342900">
              <a:buFont typeface="+mj-lt"/>
              <a:buAutoNum type="arabicPeriod"/>
            </a:pPr>
            <a:r>
              <a:rPr lang="en-US" sz="1300" dirty="0"/>
              <a:t>Courses: "Statistics Theory", "Research Methods"</a:t>
            </a:r>
          </a:p>
        </p:txBody>
      </p:sp>
    </p:spTree>
    <p:extLst>
      <p:ext uri="{BB962C8B-B14F-4D97-AF65-F5344CB8AC3E}">
        <p14:creationId xmlns:p14="http://schemas.microsoft.com/office/powerpoint/2010/main" val="923542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EBD32-C47B-73E4-172D-2CB8BD801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C2036-931E-5698-8113-F00F1CDBA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id-ID" b="1" dirty="0"/>
              <a:t>COLLABORATIVE FILTERING - NMF Approach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AA9D1-E7E2-6915-416C-0C7324DD8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1" y="1314975"/>
            <a:ext cx="5194769" cy="557784"/>
          </a:xfrm>
        </p:spPr>
        <p:txBody>
          <a:bodyPr/>
          <a:lstStyle/>
          <a:p>
            <a:r>
              <a:rPr lang="id-ID" b="1" dirty="0"/>
              <a:t>Optimal Factors Selection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90A1D-5D22-BD4D-A460-5E3A604CC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4" y="1920240"/>
            <a:ext cx="5194766" cy="39408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# Factors Analysis Results</a:t>
            </a:r>
          </a:p>
          <a:p>
            <a:pPr marL="0" indent="0">
              <a:buNone/>
            </a:pPr>
            <a:r>
              <a:rPr lang="en-US" dirty="0" err="1"/>
              <a:t>n_factors</a:t>
            </a:r>
            <a:r>
              <a:rPr lang="en-US" dirty="0"/>
              <a:t>=10: RMSE=0.92</a:t>
            </a:r>
          </a:p>
          <a:p>
            <a:pPr marL="0" indent="0">
              <a:buNone/>
            </a:pPr>
            <a:r>
              <a:rPr lang="en-US" dirty="0" err="1"/>
              <a:t>n_factors</a:t>
            </a:r>
            <a:r>
              <a:rPr lang="en-US" dirty="0"/>
              <a:t>=15: RMSE=0.89 (OPTIMAL)</a:t>
            </a:r>
          </a:p>
          <a:p>
            <a:pPr marL="0" indent="0">
              <a:buNone/>
            </a:pPr>
            <a:r>
              <a:rPr lang="en-US" dirty="0" err="1"/>
              <a:t>n_factors</a:t>
            </a:r>
            <a:r>
              <a:rPr lang="en-US" dirty="0"/>
              <a:t>=20: RMSE=0.88 (overfitting risk)</a:t>
            </a:r>
          </a:p>
          <a:p>
            <a:pPr marL="0" indent="0">
              <a:buNone/>
            </a:pPr>
            <a:r>
              <a:rPr lang="en-US" dirty="0" err="1"/>
              <a:t>n_factors</a:t>
            </a:r>
            <a:r>
              <a:rPr lang="en-US" dirty="0"/>
              <a:t>=25: RMSE=0.89</a:t>
            </a:r>
            <a:endParaRPr lang="id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7B06F9-4A8B-A760-0442-6DC0C4848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6036" y="1366867"/>
            <a:ext cx="5194770" cy="553373"/>
          </a:xfrm>
        </p:spPr>
        <p:txBody>
          <a:bodyPr/>
          <a:lstStyle/>
          <a:p>
            <a:r>
              <a:rPr lang="id-ID" b="1" dirty="0"/>
              <a:t>Performance Advantages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C13ED5-7C09-956F-D856-FE53A42845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6037" y="1920240"/>
            <a:ext cx="5194771" cy="3940811"/>
          </a:xfrm>
        </p:spPr>
        <p:txBody>
          <a:bodyPr>
            <a:normAutofit/>
          </a:bodyPr>
          <a:lstStyle/>
          <a:p>
            <a:pPr algn="just"/>
            <a:r>
              <a:rPr lang="id-ID" dirty="0"/>
              <a:t>RMSE: 0.89 (15% improvement dari KNN)</a:t>
            </a:r>
          </a:p>
          <a:p>
            <a:pPr algn="just"/>
            <a:r>
              <a:rPr lang="id-ID" dirty="0"/>
              <a:t>Handles Sparsity: Better dengan 95.5% empty ratings</a:t>
            </a:r>
          </a:p>
          <a:p>
            <a:pPr algn="just"/>
            <a:r>
              <a:rPr lang="id-ID" dirty="0"/>
              <a:t>Regularization: Built-in prevention terhadap overfitting</a:t>
            </a:r>
          </a:p>
          <a:p>
            <a:pPr algn="just"/>
            <a:r>
              <a:rPr lang="id-ID" dirty="0"/>
              <a:t>Interpretable: Business insights dari latent factors</a:t>
            </a:r>
          </a:p>
        </p:txBody>
      </p:sp>
    </p:spTree>
    <p:extLst>
      <p:ext uri="{BB962C8B-B14F-4D97-AF65-F5344CB8AC3E}">
        <p14:creationId xmlns:p14="http://schemas.microsoft.com/office/powerpoint/2010/main" val="1129173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01510-CB88-76EB-319F-EF4F559AE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411700"/>
            <a:ext cx="11029616" cy="1188720"/>
          </a:xfrm>
        </p:spPr>
        <p:txBody>
          <a:bodyPr anchor="ctr">
            <a:normAutofit/>
          </a:bodyPr>
          <a:lstStyle/>
          <a:p>
            <a:pPr algn="ctr"/>
            <a:r>
              <a:rPr lang="id-ID" b="1" dirty="0"/>
              <a:t>COLLABORATIVE FILTERING - Neural Network Embedding</a:t>
            </a:r>
            <a:br>
              <a:rPr lang="en-US" b="1" dirty="0"/>
            </a:br>
            <a:r>
              <a:rPr lang="id-ID" sz="2400" b="1" dirty="0"/>
              <a:t>Neural Collaborative Filtering Architecture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A3C0D-BA83-1F32-BD6C-4991AF688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479176"/>
            <a:ext cx="11029615" cy="5260490"/>
          </a:xfrm>
        </p:spPr>
        <p:txBody>
          <a:bodyPr numCol="2" anchor="t">
            <a:normAutofit/>
          </a:bodyPr>
          <a:lstStyle/>
          <a:p>
            <a:pPr marL="0" indent="0">
              <a:buNone/>
            </a:pPr>
            <a:r>
              <a:rPr lang="id-ID" sz="1400" dirty="0"/>
              <a:t>from tensorflow.keras.layers import Embedding, Flatten, Dot, Dense</a:t>
            </a:r>
          </a:p>
          <a:p>
            <a:pPr marL="0" indent="0">
              <a:buNone/>
            </a:pPr>
            <a:r>
              <a:rPr lang="id-ID" sz="1400" dirty="0"/>
              <a:t>from tensorflow.keras.models import Model</a:t>
            </a:r>
          </a:p>
          <a:p>
            <a:pPr marL="0" indent="0">
              <a:buNone/>
            </a:pPr>
            <a:endParaRPr lang="id-ID" sz="1400" dirty="0"/>
          </a:p>
          <a:p>
            <a:pPr marL="0" indent="0">
              <a:buNone/>
            </a:pPr>
            <a:r>
              <a:rPr lang="id-ID" sz="1400" dirty="0"/>
              <a:t>def create_ncf_model(num_users, num_courses, embedding_size=64):</a:t>
            </a:r>
          </a:p>
          <a:p>
            <a:pPr marL="0" indent="0">
              <a:buNone/>
            </a:pPr>
            <a:r>
              <a:rPr lang="id-ID" sz="1400" dirty="0"/>
              <a:t>    # Input layers</a:t>
            </a:r>
          </a:p>
          <a:p>
            <a:pPr marL="0" indent="0">
              <a:buNone/>
            </a:pPr>
            <a:r>
              <a:rPr lang="id-ID" sz="1400" dirty="0"/>
              <a:t>    user_input = Input(shape=(1,))</a:t>
            </a:r>
          </a:p>
          <a:p>
            <a:pPr marL="0" indent="0">
              <a:buNone/>
            </a:pPr>
            <a:r>
              <a:rPr lang="id-ID" sz="1400" dirty="0"/>
              <a:t>    course_input = Input(shape=(1,))</a:t>
            </a:r>
          </a:p>
          <a:p>
            <a:pPr marL="0" indent="0">
              <a:buNone/>
            </a:pPr>
            <a:r>
              <a:rPr lang="id-ID" sz="1400" dirty="0"/>
              <a:t>    </a:t>
            </a:r>
          </a:p>
          <a:p>
            <a:pPr marL="0" indent="0">
              <a:buNone/>
            </a:pPr>
            <a:r>
              <a:rPr lang="id-ID" sz="1400" dirty="0"/>
              <a:t>    # Embedding layers</a:t>
            </a:r>
          </a:p>
          <a:p>
            <a:pPr marL="0" indent="0">
              <a:buNone/>
            </a:pPr>
            <a:r>
              <a:rPr lang="id-ID" sz="1400" dirty="0"/>
              <a:t>    user_embedding = Embedding(num_users, embedding_size)(user_input)</a:t>
            </a:r>
          </a:p>
          <a:p>
            <a:pPr marL="0" indent="0">
              <a:buNone/>
            </a:pPr>
            <a:r>
              <a:rPr lang="id-ID" sz="1400" dirty="0"/>
              <a:t>    course_embedding = Embedding(num_courses, embedding_size)(course_input)</a:t>
            </a:r>
          </a:p>
          <a:p>
            <a:pPr marL="0" indent="0">
              <a:buNone/>
            </a:pPr>
            <a:r>
              <a:rPr lang="id-ID" sz="1400" dirty="0"/>
              <a:t>  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id-ID" sz="1400" dirty="0"/>
              <a:t># Dot product</a:t>
            </a:r>
          </a:p>
          <a:p>
            <a:pPr marL="0" indent="0">
              <a:buNone/>
            </a:pPr>
            <a:r>
              <a:rPr lang="id-ID" sz="1400" dirty="0"/>
              <a:t>    dot_product = Dot(axes=2)([user_embedding, course_embedding])</a:t>
            </a:r>
          </a:p>
          <a:p>
            <a:pPr marL="0" indent="0">
              <a:buNone/>
            </a:pPr>
            <a:r>
              <a:rPr lang="id-ID" sz="1400" dirty="0"/>
              <a:t>    flattened = Flatten()(dot_product)</a:t>
            </a:r>
          </a:p>
          <a:p>
            <a:pPr marL="0" indent="0">
              <a:buNone/>
            </a:pPr>
            <a:r>
              <a:rPr lang="id-ID" sz="1400" dirty="0"/>
              <a:t>    </a:t>
            </a:r>
          </a:p>
          <a:p>
            <a:pPr marL="0" indent="0">
              <a:buNone/>
            </a:pPr>
            <a:r>
              <a:rPr lang="id-ID" sz="1400" dirty="0"/>
              <a:t>    # Deep layers</a:t>
            </a:r>
          </a:p>
          <a:p>
            <a:pPr marL="0" indent="0">
              <a:buNone/>
            </a:pPr>
            <a:r>
              <a:rPr lang="id-ID" sz="1400" dirty="0"/>
              <a:t>    dense1 = Dense(128, activation='relu')(flattened)</a:t>
            </a:r>
          </a:p>
          <a:p>
            <a:pPr marL="0" indent="0">
              <a:buNone/>
            </a:pPr>
            <a:r>
              <a:rPr lang="id-ID" sz="1400" dirty="0"/>
              <a:t>    dropout1 = Dropout(0.3)(dense1)</a:t>
            </a:r>
          </a:p>
          <a:p>
            <a:pPr marL="0" indent="0">
              <a:buNone/>
            </a:pPr>
            <a:r>
              <a:rPr lang="id-ID" sz="1400" dirty="0"/>
              <a:t>    dense2 = Dense(64, activation='relu')(dropout1)</a:t>
            </a:r>
          </a:p>
          <a:p>
            <a:pPr marL="0" indent="0">
              <a:buNone/>
            </a:pPr>
            <a:r>
              <a:rPr lang="id-ID" sz="1400" dirty="0"/>
              <a:t>    output = Dense(1, activation='sigmoid')(dense2)</a:t>
            </a:r>
          </a:p>
          <a:p>
            <a:pPr marL="0" indent="0">
              <a:buNone/>
            </a:pPr>
            <a:r>
              <a:rPr lang="id-ID" sz="1400" dirty="0"/>
              <a:t>    </a:t>
            </a:r>
          </a:p>
          <a:p>
            <a:pPr marL="0" indent="0">
              <a:buNone/>
            </a:pPr>
            <a:r>
              <a:rPr lang="id-ID" sz="1400" dirty="0"/>
              <a:t>    model = Model(inputs=[user_input, course_input], outputs=output)</a:t>
            </a:r>
          </a:p>
          <a:p>
            <a:pPr marL="0" indent="0">
              <a:buNone/>
            </a:pPr>
            <a:r>
              <a:rPr lang="id-ID" sz="1400" dirty="0"/>
              <a:t>    model.compile(optimizer='adam', loss='binary_crossentropy', metrics=['mae'])</a:t>
            </a:r>
          </a:p>
          <a:p>
            <a:pPr marL="0" indent="0">
              <a:buNone/>
            </a:pPr>
            <a:r>
              <a:rPr lang="id-ID" sz="1400" dirty="0"/>
              <a:t>    return model</a:t>
            </a:r>
          </a:p>
        </p:txBody>
      </p:sp>
    </p:spTree>
    <p:extLst>
      <p:ext uri="{BB962C8B-B14F-4D97-AF65-F5344CB8AC3E}">
        <p14:creationId xmlns:p14="http://schemas.microsoft.com/office/powerpoint/2010/main" val="305282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AB27-8CFA-2684-7B47-572C1292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id-ID" b="1" dirty="0"/>
              <a:t>COLLABORATIVE FILTERING - Neural Network Embedding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AD7C9-DD0E-07A8-B61B-919F8CE3D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b="1" dirty="0"/>
              <a:t>Training Progress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93E694-185D-E8BD-6840-DEBA4A6975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sv-SE" sz="1800" dirty="0"/>
              <a:t># Training Results</a:t>
            </a:r>
          </a:p>
          <a:p>
            <a:pPr marL="0" indent="0" algn="just">
              <a:buNone/>
            </a:pPr>
            <a:r>
              <a:rPr lang="sv-SE" sz="1800" dirty="0"/>
              <a:t>Epoch 25/25</a:t>
            </a:r>
          </a:p>
          <a:p>
            <a:pPr marL="0" indent="0" algn="just">
              <a:buNone/>
            </a:pPr>
            <a:r>
              <a:rPr lang="sv-SE" sz="1800" dirty="0"/>
              <a:t>- Loss: 0.2158</a:t>
            </a:r>
          </a:p>
          <a:p>
            <a:pPr marL="0" indent="0" algn="just">
              <a:buNone/>
            </a:pPr>
            <a:r>
              <a:rPr lang="sv-SE" sz="1800" dirty="0"/>
              <a:t>- Val Loss: 0.2314</a:t>
            </a:r>
          </a:p>
          <a:p>
            <a:pPr marL="0" indent="0" algn="just">
              <a:buNone/>
            </a:pPr>
            <a:r>
              <a:rPr lang="sv-SE" sz="1800" dirty="0"/>
              <a:t>- MAE: 0.1892</a:t>
            </a:r>
          </a:p>
          <a:p>
            <a:pPr marL="0" indent="0" algn="just">
              <a:buNone/>
            </a:pPr>
            <a:r>
              <a:rPr lang="sv-SE" sz="1800" dirty="0"/>
              <a:t>- Val MAE: 0.2015</a:t>
            </a:r>
          </a:p>
          <a:p>
            <a:pPr marL="0" indent="0" algn="just">
              <a:buNone/>
            </a:pPr>
            <a:r>
              <a:rPr lang="sv-SE" sz="1800" dirty="0"/>
              <a:t>- AUC: 0.8712</a:t>
            </a:r>
            <a:endParaRPr lang="id-ID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28D12-6AB1-812F-7F7B-AFD05C0BF5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d-ID" b="1" dirty="0"/>
              <a:t>Advanced Architecture Features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57F7EB-4B57-9835-BB65-2765461DA7D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d-ID" dirty="0"/>
              <a:t>Multi-layer Perceptron: Captures non-linear interactions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</a:t>
            </a:r>
            <a:r>
              <a:rPr lang="id-ID" dirty="0"/>
              <a:t>mbedding Layers: 64-dimensional user/course representations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id-ID" dirty="0"/>
              <a:t>Dropout Regularization: 30% dropout prevents overfitting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id-ID" dirty="0"/>
              <a:t>Batch Normalization: Stabilizes training process</a:t>
            </a:r>
            <a:endParaRPr lang="id-ID" sz="13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E4B217-B6D9-5492-770D-126B905B4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1169151-2B8E-4514-9C91-C2B85311DF59}" type="datetime1">
              <a:rPr lang="id-ID" smtClean="0"/>
              <a:t>21/11/2025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276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43219-CDF5-5E1E-E1F1-9276C8DEF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id-ID" b="1" dirty="0"/>
              <a:t>COLLABORATIVE FILTERING - Neural Network Embedding</a:t>
            </a:r>
            <a:br>
              <a:rPr lang="id-ID" b="1" dirty="0"/>
            </a:br>
            <a:r>
              <a:rPr lang="id-ID" sz="2000" b="1" dirty="0"/>
              <a:t>State-of-the-Art Performance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7AB82-9878-810B-E1A4-C50192C44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# Final Evaluation Metrics</a:t>
            </a:r>
          </a:p>
          <a:p>
            <a:pPr marL="0" indent="0" algn="just">
              <a:buNone/>
            </a:pPr>
            <a:r>
              <a:rPr lang="en-US" sz="2000" dirty="0"/>
              <a:t>Hit Rate@10: 0.63</a:t>
            </a:r>
          </a:p>
          <a:p>
            <a:pPr marL="0" indent="0" algn="just">
              <a:buNone/>
            </a:pPr>
            <a:r>
              <a:rPr lang="en-US" sz="2000" dirty="0"/>
              <a:t>NDCG@10: 0.65</a:t>
            </a:r>
          </a:p>
          <a:p>
            <a:pPr marL="0" indent="0" algn="just">
              <a:buNone/>
            </a:pPr>
            <a:r>
              <a:rPr lang="en-US" sz="2000" dirty="0"/>
              <a:t>Precision@10: 0.67</a:t>
            </a:r>
          </a:p>
          <a:p>
            <a:pPr marL="0" indent="0" algn="just">
              <a:buNone/>
            </a:pPr>
            <a:r>
              <a:rPr lang="en-US" sz="2000" dirty="0"/>
              <a:t>Recall@10: 0.52</a:t>
            </a:r>
          </a:p>
          <a:p>
            <a:pPr marL="0" indent="0" algn="just">
              <a:buNone/>
            </a:pPr>
            <a:r>
              <a:rPr lang="en-US" sz="2000" dirty="0"/>
              <a:t>AUC Score: 0.87</a:t>
            </a:r>
          </a:p>
          <a:p>
            <a:pPr marL="0" indent="0" algn="just">
              <a:buNone/>
            </a:pPr>
            <a:r>
              <a:rPr lang="en-US" sz="2000" dirty="0"/>
              <a:t>Coverage: 78%</a:t>
            </a:r>
            <a:endParaRPr lang="id-ID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8F040-83A1-F2BA-26E3-FE23A3705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027B17D-CD0D-4640-9BEA-4EA862DC1A8A}" type="datetime1">
              <a:rPr lang="id-ID" smtClean="0"/>
              <a:t>21/11/2025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813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70B20-2BD7-6F42-E61D-DC328792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id-ID" b="1" dirty="0"/>
              <a:t>COLLABORATIVE FILTERING EVALUATION - 1</a:t>
            </a:r>
            <a:br>
              <a:rPr lang="id-ID" b="1" dirty="0"/>
            </a:br>
            <a:r>
              <a:rPr lang="id-ID" sz="2000" b="1" dirty="0"/>
              <a:t>Experimental Framework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54E9B-6D1A-206E-3A5A-4AD2FF253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 anchor="t">
            <a:normAutofit/>
          </a:bodyPr>
          <a:lstStyle/>
          <a:p>
            <a:pPr marL="0" indent="0" algn="just">
              <a:buNone/>
            </a:pPr>
            <a:r>
              <a:rPr lang="id-ID" sz="1300" dirty="0"/>
              <a:t># Evaluation Protocol</a:t>
            </a:r>
          </a:p>
          <a:p>
            <a:pPr marL="0" indent="0" algn="just">
              <a:buNone/>
            </a:pPr>
            <a:r>
              <a:rPr lang="id-ID" sz="1300" dirty="0"/>
              <a:t>def evaluate_model(model, testset):</a:t>
            </a:r>
          </a:p>
          <a:p>
            <a:pPr marL="0" indent="0" algn="just">
              <a:buNone/>
            </a:pPr>
            <a:r>
              <a:rPr lang="id-ID" sz="1300" dirty="0"/>
              <a:t>    predictions = model.test(testset)</a:t>
            </a:r>
          </a:p>
          <a:p>
            <a:pPr marL="0" indent="0" algn="just">
              <a:buNone/>
            </a:pPr>
            <a:r>
              <a:rPr lang="id-ID" sz="1300" dirty="0"/>
              <a:t>    </a:t>
            </a:r>
          </a:p>
          <a:p>
            <a:pPr marL="0" indent="0" algn="just">
              <a:buNone/>
            </a:pPr>
            <a:r>
              <a:rPr lang="id-ID" sz="1300" dirty="0"/>
              <a:t>    # Ranking Metrics</a:t>
            </a:r>
          </a:p>
          <a:p>
            <a:pPr marL="0" indent="0" algn="just">
              <a:buNone/>
            </a:pPr>
            <a:r>
              <a:rPr lang="id-ID" sz="1300" dirty="0"/>
              <a:t>    precision = precision_at_k(predictions, k=10)</a:t>
            </a:r>
          </a:p>
          <a:p>
            <a:pPr marL="0" indent="0" algn="just">
              <a:buNone/>
            </a:pPr>
            <a:r>
              <a:rPr lang="id-ID" sz="1300" dirty="0"/>
              <a:t>    recall = recall_at_k(predictions, k=10)</a:t>
            </a:r>
          </a:p>
          <a:p>
            <a:pPr marL="0" indent="0" algn="just">
              <a:buNone/>
            </a:pPr>
            <a:r>
              <a:rPr lang="id-ID" sz="1300" dirty="0"/>
              <a:t>    ndcg = ndcg_at_k(predictions, k=10)</a:t>
            </a:r>
          </a:p>
          <a:p>
            <a:pPr marL="0" indent="0" algn="just">
              <a:buNone/>
            </a:pPr>
            <a:r>
              <a:rPr lang="id-ID" sz="1300" dirty="0"/>
              <a:t>    </a:t>
            </a:r>
          </a:p>
          <a:p>
            <a:pPr marL="0" indent="0" algn="just">
              <a:buNone/>
            </a:pPr>
            <a:r>
              <a:rPr lang="id-ID" sz="1300" dirty="0"/>
              <a:t>    # Coverage &amp; Diversity</a:t>
            </a:r>
          </a:p>
          <a:p>
            <a:pPr marL="0" indent="0" algn="just">
              <a:buNone/>
            </a:pPr>
            <a:r>
              <a:rPr lang="id-ID" sz="1300" dirty="0"/>
              <a:t>    coverage = catalog_coverage(predictions, catalog_size=1287)</a:t>
            </a:r>
          </a:p>
          <a:p>
            <a:pPr marL="0" indent="0" algn="just">
              <a:buNone/>
            </a:pPr>
            <a:r>
              <a:rPr lang="id-ID" sz="1300" dirty="0"/>
              <a:t>    diversity = intra_list_diversity(predictions)</a:t>
            </a:r>
          </a:p>
          <a:p>
            <a:pPr marL="0" indent="0" algn="just">
              <a:buNone/>
            </a:pPr>
            <a:r>
              <a:rPr lang="id-ID" sz="1300" dirty="0"/>
              <a:t>    </a:t>
            </a:r>
          </a:p>
          <a:p>
            <a:pPr marL="0" indent="0" algn="just">
              <a:buNone/>
            </a:pPr>
            <a:r>
              <a:rPr lang="id-ID" sz="1300" dirty="0"/>
              <a:t>    return {</a:t>
            </a:r>
          </a:p>
          <a:p>
            <a:pPr marL="0" indent="0" algn="just">
              <a:buNone/>
            </a:pPr>
            <a:r>
              <a:rPr lang="id-ID" sz="1300" dirty="0"/>
              <a:t>        'precision': precision,</a:t>
            </a:r>
          </a:p>
          <a:p>
            <a:pPr marL="0" indent="0" algn="just">
              <a:buNone/>
            </a:pPr>
            <a:r>
              <a:rPr lang="id-ID" sz="1300" dirty="0"/>
              <a:t>        'recall': recall, </a:t>
            </a:r>
          </a:p>
          <a:p>
            <a:pPr marL="0" indent="0" algn="just">
              <a:buNone/>
            </a:pPr>
            <a:r>
              <a:rPr lang="id-ID" sz="1300" dirty="0"/>
              <a:t>        'ndcg': ndcg,</a:t>
            </a:r>
          </a:p>
          <a:p>
            <a:pPr marL="0" indent="0" algn="just">
              <a:buNone/>
            </a:pPr>
            <a:r>
              <a:rPr lang="id-ID" sz="1300" dirty="0"/>
              <a:t>        'coverage': coverage,</a:t>
            </a:r>
          </a:p>
          <a:p>
            <a:pPr marL="0" indent="0" algn="just">
              <a:buNone/>
            </a:pPr>
            <a:r>
              <a:rPr lang="id-ID" sz="1300" dirty="0"/>
              <a:t>        'diversity': diversity</a:t>
            </a:r>
          </a:p>
          <a:p>
            <a:pPr marL="0" indent="0" algn="just">
              <a:buNone/>
            </a:pPr>
            <a:r>
              <a:rPr lang="id-ID" sz="1300" dirty="0"/>
              <a:t>    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10CFD-C0B3-32EB-8544-384B3921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027B17D-CD0D-4640-9BEA-4EA862DC1A8A}" type="datetime1">
              <a:rPr lang="id-ID" smtClean="0"/>
              <a:t>21/11/2025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622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D5A6D-BF6B-1ECC-BF98-A715F3CD3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id-ID" b="1" dirty="0"/>
              <a:t>COLLABORATIVE FILTERING EVALUATION - 1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EF967-FCDF-144A-A270-3FDEDE1A5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b="1" dirty="0"/>
              <a:t>Comprehensive Results Table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02FC0A7A-33B1-643C-866A-0CE059EDA1E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08815823"/>
              </p:ext>
            </p:extLst>
          </p:nvPr>
        </p:nvGraphicFramePr>
        <p:xfrm>
          <a:off x="581025" y="2925763"/>
          <a:ext cx="5194296" cy="1965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5716">
                  <a:extLst>
                    <a:ext uri="{9D8B030D-6E8A-4147-A177-3AD203B41FA5}">
                      <a16:colId xmlns:a16="http://schemas.microsoft.com/office/drawing/2014/main" val="1258626673"/>
                    </a:ext>
                  </a:extLst>
                </a:gridCol>
                <a:gridCol w="865716">
                  <a:extLst>
                    <a:ext uri="{9D8B030D-6E8A-4147-A177-3AD203B41FA5}">
                      <a16:colId xmlns:a16="http://schemas.microsoft.com/office/drawing/2014/main" val="4182388239"/>
                    </a:ext>
                  </a:extLst>
                </a:gridCol>
                <a:gridCol w="865716">
                  <a:extLst>
                    <a:ext uri="{9D8B030D-6E8A-4147-A177-3AD203B41FA5}">
                      <a16:colId xmlns:a16="http://schemas.microsoft.com/office/drawing/2014/main" val="21965683"/>
                    </a:ext>
                  </a:extLst>
                </a:gridCol>
                <a:gridCol w="865716">
                  <a:extLst>
                    <a:ext uri="{9D8B030D-6E8A-4147-A177-3AD203B41FA5}">
                      <a16:colId xmlns:a16="http://schemas.microsoft.com/office/drawing/2014/main" val="2131383459"/>
                    </a:ext>
                  </a:extLst>
                </a:gridCol>
                <a:gridCol w="865716">
                  <a:extLst>
                    <a:ext uri="{9D8B030D-6E8A-4147-A177-3AD203B41FA5}">
                      <a16:colId xmlns:a16="http://schemas.microsoft.com/office/drawing/2014/main" val="4287633527"/>
                    </a:ext>
                  </a:extLst>
                </a:gridCol>
                <a:gridCol w="865716">
                  <a:extLst>
                    <a:ext uri="{9D8B030D-6E8A-4147-A177-3AD203B41FA5}">
                      <a16:colId xmlns:a16="http://schemas.microsoft.com/office/drawing/2014/main" val="3604763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/>
                        <a:t>Algorith</a:t>
                      </a:r>
                      <a:endParaRPr lang="id-ID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Precision@10</a:t>
                      </a:r>
                      <a:endParaRPr lang="id-ID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Recall@10</a:t>
                      </a:r>
                      <a:endParaRPr lang="id-ID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NDCG@10</a:t>
                      </a:r>
                      <a:endParaRPr lang="id-ID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Coverage</a:t>
                      </a:r>
                      <a:endParaRPr lang="id-ID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Diversity</a:t>
                      </a:r>
                      <a:endParaRPr lang="id-ID" sz="11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769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 dirty="0"/>
                        <a:t>Popularity </a:t>
                      </a:r>
                      <a:endParaRPr lang="id-ID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0.32</a:t>
                      </a:r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0.25</a:t>
                      </a:r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0.28</a:t>
                      </a:r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15%</a:t>
                      </a:r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0.12</a:t>
                      </a:r>
                      <a:endParaRPr lang="id-ID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060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 dirty="0"/>
                        <a:t>KNN Item-based</a:t>
                      </a:r>
                      <a:endParaRPr lang="id-ID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0.58</a:t>
                      </a:r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0.41</a:t>
                      </a:r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0.52</a:t>
                      </a:r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68%</a:t>
                      </a:r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0.45</a:t>
                      </a:r>
                      <a:endParaRPr lang="id-ID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106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 dirty="0"/>
                        <a:t>NMF</a:t>
                      </a:r>
                      <a:endParaRPr lang="id-ID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0.61</a:t>
                      </a:r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0.45</a:t>
                      </a:r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0.58</a:t>
                      </a:r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72%</a:t>
                      </a:r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0.51</a:t>
                      </a:r>
                      <a:endParaRPr lang="id-ID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9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 dirty="0"/>
                        <a:t>Neural MF</a:t>
                      </a:r>
                      <a:endParaRPr lang="id-ID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0.67</a:t>
                      </a:r>
                      <a:endParaRPr lang="id-ID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0.52</a:t>
                      </a:r>
                      <a:endParaRPr lang="id-ID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0.65</a:t>
                      </a:r>
                      <a:endParaRPr lang="id-ID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78%</a:t>
                      </a:r>
                      <a:endParaRPr lang="id-ID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0.58</a:t>
                      </a:r>
                      <a:endParaRPr lang="id-ID" sz="11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534857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27C1D2-7FDB-BA02-4A2A-7BD7E0A8E5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d-ID" b="1" dirty="0"/>
              <a:t>Accuracy-Runtime Tradeoff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F55BDAA-ACDC-0EBB-B3ED-CFFB8C2E5003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248258011"/>
              </p:ext>
            </p:extLst>
          </p:nvPr>
        </p:nvGraphicFramePr>
        <p:xfrm>
          <a:off x="6416675" y="2925763"/>
          <a:ext cx="5194300" cy="1630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8575">
                  <a:extLst>
                    <a:ext uri="{9D8B030D-6E8A-4147-A177-3AD203B41FA5}">
                      <a16:colId xmlns:a16="http://schemas.microsoft.com/office/drawing/2014/main" val="4224377786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626261667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2709193181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3339895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Algorithm</a:t>
                      </a:r>
                      <a:endParaRPr lang="id-ID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Training Time</a:t>
                      </a:r>
                      <a:endParaRPr lang="id-ID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Prediction Time</a:t>
                      </a:r>
                      <a:endParaRPr lang="id-ID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Accuracy Score</a:t>
                      </a:r>
                      <a:endParaRPr lang="id-ID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404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KNN</a:t>
                      </a:r>
                      <a:endParaRPr lang="id-ID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28s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0.1ms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0.52</a:t>
                      </a:r>
                      <a:endParaRPr lang="id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742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NMF</a:t>
                      </a:r>
                      <a:endParaRPr lang="id-ID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1m 45s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0.5ms</a:t>
                      </a:r>
                      <a:endParaRPr lang="id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0.58</a:t>
                      </a:r>
                      <a:endParaRPr lang="id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774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Neural MF</a:t>
                      </a:r>
                      <a:endParaRPr lang="id-ID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8m 20s</a:t>
                      </a:r>
                      <a:endParaRPr lang="id-ID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2.1ms</a:t>
                      </a:r>
                      <a:endParaRPr lang="id-ID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0.65</a:t>
                      </a:r>
                      <a:endParaRPr lang="id-ID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553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3324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CCE95-AA68-2423-7DB6-50E49880F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id-ID" b="1" dirty="0"/>
              <a:t>COLLABORATIVE FILTERING EVALUATION – 2</a:t>
            </a:r>
            <a:br>
              <a:rPr lang="en-US" b="1" dirty="0"/>
            </a:br>
            <a:r>
              <a:rPr lang="id-ID" sz="2000" b="1" dirty="0"/>
              <a:t>Qualitative Analysis by User Segment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6EB60-E2E9-1ED6-CC5E-429E80ECA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34179"/>
            <a:ext cx="11029615" cy="4954859"/>
          </a:xfrm>
        </p:spPr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id-ID" sz="1600" dirty="0">
                <a:solidFill>
                  <a:schemeClr val="tx1"/>
                </a:solidFill>
              </a:rPr>
              <a:t>For New Users (&lt;5 ratings)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id-ID" sz="1600" dirty="0">
                <a:solidFill>
                  <a:schemeClr val="tx1"/>
                </a:solidFill>
              </a:rPr>
              <a:t>Best: Content-based + Clustering (Precision: 0.48)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id-ID" sz="1600" dirty="0">
                <a:solidFill>
                  <a:schemeClr val="tx1"/>
                </a:solidFill>
              </a:rPr>
              <a:t>Reason: Tidak bergantung pada historical data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id-ID" sz="1600" dirty="0">
                <a:solidFill>
                  <a:schemeClr val="tx1"/>
                </a:solidFill>
              </a:rPr>
              <a:t>Example: User dengan profile "Data Scientist" langsung dapat rekomendasi relevant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id-ID" sz="1600" dirty="0">
                <a:solidFill>
                  <a:schemeClr val="tx1"/>
                </a:solidFill>
              </a:rPr>
              <a:t>For Active Users (20+ ratings)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id-ID" sz="1600" dirty="0">
                <a:solidFill>
                  <a:schemeClr val="tx1"/>
                </a:solidFill>
              </a:rPr>
              <a:t>Best: Neural Collaborative Filtering (Precision: 0.71)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id-ID" sz="1600" dirty="0">
                <a:solidFill>
                  <a:schemeClr val="tx1"/>
                </a:solidFill>
              </a:rPr>
              <a:t>Reason: Leverages comprehensive interaction history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id-ID" sz="1600" dirty="0">
                <a:solidFill>
                  <a:schemeClr val="tx1"/>
                </a:solidFill>
              </a:rPr>
              <a:t>Example: Personalized recommendations berdasarkan subtle preferences</a:t>
            </a:r>
          </a:p>
          <a:p>
            <a:pPr marL="0" indent="0" algn="just">
              <a:buNone/>
            </a:pPr>
            <a:r>
              <a:rPr lang="id-ID" sz="1600" dirty="0">
                <a:solidFill>
                  <a:schemeClr val="tx1"/>
                </a:solidFill>
              </a:rPr>
              <a:t>For Niche Interest Users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id-ID" sz="1600" dirty="0">
                <a:solidFill>
                  <a:schemeClr val="tx1"/>
                </a:solidFill>
              </a:rPr>
              <a:t>Best: KNN Item-based (Diversity: 0.45)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id-ID" sz="1600" dirty="0">
                <a:solidFill>
                  <a:schemeClr val="tx1"/>
                </a:solidFill>
              </a:rPr>
              <a:t>Reason: Finds similar courses secara langsung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id-ID" sz="1600" dirty="0">
                <a:solidFill>
                  <a:schemeClr val="tx1"/>
                </a:solidFill>
              </a:rPr>
              <a:t>Example: User interested in "Quantum Computing" dapat rare courses</a:t>
            </a:r>
          </a:p>
        </p:txBody>
      </p:sp>
    </p:spTree>
    <p:extLst>
      <p:ext uri="{BB962C8B-B14F-4D97-AF65-F5344CB8AC3E}">
        <p14:creationId xmlns:p14="http://schemas.microsoft.com/office/powerpoint/2010/main" val="95180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2BACB-8448-86A8-4CE7-0A9BDCA2B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id-ID" b="1" dirty="0"/>
              <a:t>COLLABORATIVE FILTERING EVALUATION - 2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0B8AB-C2C7-843F-138E-C0F806C77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b="1" dirty="0"/>
              <a:t>Cold Start Performance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D99010-0C74-7ADA-485C-933527CBC4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500" dirty="0"/>
              <a:t># New Course Recommendation (≤10 ratings)</a:t>
            </a:r>
          </a:p>
          <a:p>
            <a:pPr marL="0" indent="0" algn="just">
              <a:buNone/>
            </a:pPr>
            <a:r>
              <a:rPr lang="en-US" sz="1500" dirty="0"/>
              <a:t>Content-based: Precision@10 = 0.51</a:t>
            </a:r>
          </a:p>
          <a:p>
            <a:pPr marL="0" indent="0" algn="just">
              <a:buNone/>
            </a:pPr>
            <a:r>
              <a:rPr lang="en-US" sz="1500" dirty="0"/>
              <a:t>KNN: Precision@10 = 0.28 (poor)</a:t>
            </a:r>
          </a:p>
          <a:p>
            <a:pPr marL="0" indent="0" algn="just">
              <a:buNone/>
            </a:pPr>
            <a:r>
              <a:rPr lang="en-US" sz="1500" dirty="0"/>
              <a:t>NMF: Precision@10 = 0.35</a:t>
            </a:r>
          </a:p>
          <a:p>
            <a:pPr marL="0" indent="0" algn="just">
              <a:buNone/>
            </a:pPr>
            <a:r>
              <a:rPr lang="en-US" sz="1500" dirty="0"/>
              <a:t>Neural MF: Precision@10 = 0.42</a:t>
            </a:r>
            <a:endParaRPr lang="id-ID" sz="15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448640-9DE1-B2DE-0DC0-DBACBA504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d-ID" b="1" dirty="0"/>
              <a:t>Hybrid Approach Design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600718-911E-C4C6-70A8-BF0A8A5F3E9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sz="1500" dirty="0"/>
              <a:t>def hybrid_recommendation(user_id, course_id, user_history):</a:t>
            </a:r>
          </a:p>
          <a:p>
            <a:pPr marL="0" indent="0" algn="just">
              <a:buNone/>
            </a:pPr>
            <a:r>
              <a:rPr lang="id-ID" sz="1500" dirty="0"/>
              <a:t>    if len(user_history) &lt; 5:</a:t>
            </a:r>
          </a:p>
          <a:p>
            <a:pPr marL="0" indent="0" algn="just">
              <a:buNone/>
            </a:pPr>
            <a:r>
              <a:rPr lang="id-ID" sz="1500" dirty="0"/>
              <a:t>        # Cold start: Use content-based</a:t>
            </a:r>
          </a:p>
          <a:p>
            <a:pPr marL="0" indent="0" algn="just">
              <a:buNone/>
            </a:pPr>
            <a:r>
              <a:rPr lang="id-ID" sz="1500" dirty="0"/>
              <a:t>        return content_based_recommendations(user_id)</a:t>
            </a:r>
          </a:p>
          <a:p>
            <a:pPr marL="0" indent="0" algn="just">
              <a:buNone/>
            </a:pPr>
            <a:r>
              <a:rPr lang="id-ID" sz="1500" dirty="0"/>
              <a:t>    else:</a:t>
            </a:r>
          </a:p>
          <a:p>
            <a:pPr marL="0" indent="0" algn="just">
              <a:buNone/>
            </a:pPr>
            <a:r>
              <a:rPr lang="id-ID" sz="1500" dirty="0"/>
              <a:t>        # Warm user: Use collaborative filtering</a:t>
            </a:r>
          </a:p>
          <a:p>
            <a:pPr marL="0" indent="0" algn="just">
              <a:buNone/>
            </a:pPr>
            <a:r>
              <a:rPr lang="id-ID" sz="1500" dirty="0"/>
              <a:t>        return neural_mf_recommendations(user_id)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5874B8-29FD-7699-30EC-E207CBA3F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1169151-2B8E-4514-9C91-C2B85311DF59}" type="datetime1">
              <a:rPr lang="id-ID" smtClean="0"/>
              <a:t>21/11/2025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601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B4DD9-48E2-9F1C-7904-1189E95E9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A58F-92B2-E9DB-3A8D-EA3DFBAE5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id-ID" b="1" dirty="0"/>
              <a:t>COLLABORATIVE FILTERING EVALUATION – 2</a:t>
            </a:r>
            <a:br>
              <a:rPr lang="en-US" b="1" dirty="0"/>
            </a:br>
            <a:r>
              <a:rPr lang="id-ID" sz="2000" b="1" dirty="0"/>
              <a:t>Final Recommendation Strategy</a:t>
            </a:r>
            <a:endParaRPr lang="id-ID" dirty="0"/>
          </a:p>
        </p:txBody>
      </p:sp>
      <p:graphicFrame>
        <p:nvGraphicFramePr>
          <p:cNvPr id="26" name="Content Placeholder 25">
            <a:extLst>
              <a:ext uri="{FF2B5EF4-FFF2-40B4-BE49-F238E27FC236}">
                <a16:creationId xmlns:a16="http://schemas.microsoft.com/office/drawing/2014/main" id="{8B338F87-8043-E6BC-F089-C19413A1152C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115378678"/>
              </p:ext>
            </p:extLst>
          </p:nvPr>
        </p:nvGraphicFramePr>
        <p:xfrm>
          <a:off x="1834179" y="2231895"/>
          <a:ext cx="861657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72190">
                  <a:extLst>
                    <a:ext uri="{9D8B030D-6E8A-4147-A177-3AD203B41FA5}">
                      <a16:colId xmlns:a16="http://schemas.microsoft.com/office/drawing/2014/main" val="3818191979"/>
                    </a:ext>
                  </a:extLst>
                </a:gridCol>
                <a:gridCol w="2872190">
                  <a:extLst>
                    <a:ext uri="{9D8B030D-6E8A-4147-A177-3AD203B41FA5}">
                      <a16:colId xmlns:a16="http://schemas.microsoft.com/office/drawing/2014/main" val="1759296285"/>
                    </a:ext>
                  </a:extLst>
                </a:gridCol>
                <a:gridCol w="2872190">
                  <a:extLst>
                    <a:ext uri="{9D8B030D-6E8A-4147-A177-3AD203B41FA5}">
                      <a16:colId xmlns:a16="http://schemas.microsoft.com/office/drawing/2014/main" val="5493514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User Type</a:t>
                      </a:r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Primary Algorithm</a:t>
                      </a:r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Fallback Algorithm</a:t>
                      </a:r>
                      <a:endParaRPr lang="id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24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New User</a:t>
                      </a:r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Content-based+ Clustering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Popularity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887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Active User</a:t>
                      </a:r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Neural MF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NMF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570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Niche User</a:t>
                      </a:r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KNN Item-based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Content-based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473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Returning User</a:t>
                      </a:r>
                      <a:endParaRPr lang="id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Hybrid Switching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Context-based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640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591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74AFD-C6F6-DD24-7294-935BC5ABA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id-ID" b="1" dirty="0"/>
              <a:t>CONCLUSION &amp; FUTURE WORK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98F35-97E2-89D8-B7E5-4D8297EB2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b="1" dirty="0"/>
              <a:t>Key Technical Findings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86842-D60A-42C4-1032-ED36B9E833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sz="1500" dirty="0"/>
              <a:t># Algorithm Ranking by Use Case</a:t>
            </a:r>
          </a:p>
          <a:p>
            <a:pPr marL="0" indent="0" algn="just">
              <a:buNone/>
            </a:pPr>
            <a:r>
              <a:rPr lang="id-ID" sz="1500" dirty="0"/>
              <a:t>Overall Best Accuracy: Neural Collaborative Filtering (NDCG: 0.65)</a:t>
            </a:r>
          </a:p>
          <a:p>
            <a:pPr marL="0" indent="0" algn="just">
              <a:buNone/>
            </a:pPr>
            <a:r>
              <a:rPr lang="id-ID" sz="1500" dirty="0"/>
              <a:t>Best for Cold Start: Content-based + Clustering (Precision: 0.48)</a:t>
            </a:r>
          </a:p>
          <a:p>
            <a:pPr marL="0" indent="0" algn="just">
              <a:buNone/>
            </a:pPr>
            <a:r>
              <a:rPr lang="id-ID" sz="1500" dirty="0"/>
              <a:t>Best for Interpretability: KNN Item-based (Transparent)</a:t>
            </a:r>
          </a:p>
          <a:p>
            <a:pPr marL="0" indent="0" algn="just">
              <a:buNone/>
            </a:pPr>
            <a:r>
              <a:rPr lang="id-ID" sz="1500" dirty="0"/>
              <a:t>Best for Scalability: NMF (Good balance accuracy/speed)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71A5B-0883-DB26-CEAF-474917F62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d-ID" b="1" dirty="0"/>
              <a:t>Implementation Roadmap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54582C-EFDA-1784-EC76-6A6542AE0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349786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id-ID" sz="1500" dirty="0"/>
              <a:t># Phase 1 (Months 1-2): Foundation</a:t>
            </a:r>
          </a:p>
          <a:p>
            <a:pPr marL="0" indent="0">
              <a:buNone/>
            </a:pPr>
            <a:r>
              <a:rPr lang="id-ID" sz="1500" dirty="0"/>
              <a:t>- Deploy content-based system untuk semua users</a:t>
            </a:r>
          </a:p>
          <a:p>
            <a:pPr marL="0" indent="0">
              <a:buNone/>
            </a:pPr>
            <a:r>
              <a:rPr lang="id-ID" sz="1500" dirty="0"/>
              <a:t>- Implement user clustering untuk segmentation</a:t>
            </a:r>
          </a:p>
          <a:p>
            <a:pPr marL="0" indent="0">
              <a:buNone/>
            </a:pPr>
            <a:r>
              <a:rPr lang="id-ID" sz="1500" dirty="0"/>
              <a:t>- A/B test baseline vs new system</a:t>
            </a:r>
          </a:p>
          <a:p>
            <a:pPr marL="0" indent="0">
              <a:buNone/>
            </a:pPr>
            <a:endParaRPr lang="id-ID" sz="1500" dirty="0"/>
          </a:p>
          <a:p>
            <a:pPr marL="0" indent="0">
              <a:buNone/>
            </a:pPr>
            <a:r>
              <a:rPr lang="id-ID" sz="1500" dirty="0"/>
              <a:t># Phase 2 (Months 3-4): Advanced Personalization  </a:t>
            </a:r>
          </a:p>
          <a:p>
            <a:pPr marL="0" indent="0">
              <a:buNone/>
            </a:pPr>
            <a:r>
              <a:rPr lang="id-ID" sz="1500" dirty="0"/>
              <a:t>- Add Neural MF untuk active users (20+ ratings)</a:t>
            </a:r>
          </a:p>
          <a:p>
            <a:pPr marL="0" indent="0">
              <a:buNone/>
            </a:pPr>
            <a:r>
              <a:rPr lang="id-ID" sz="1500" dirty="0"/>
              <a:t>- Implement real-time recommendation updates</a:t>
            </a:r>
          </a:p>
          <a:p>
            <a:pPr marL="0" indent="0">
              <a:buNone/>
            </a:pPr>
            <a:r>
              <a:rPr lang="id-ID" sz="1500" dirty="0"/>
              <a:t>- Optimize hyperparameters berdasarkan user feedback</a:t>
            </a:r>
          </a:p>
          <a:p>
            <a:pPr marL="0" indent="0">
              <a:buNone/>
            </a:pPr>
            <a:endParaRPr lang="id-ID" sz="1500" dirty="0"/>
          </a:p>
          <a:p>
            <a:pPr marL="0" indent="0">
              <a:buNone/>
            </a:pPr>
            <a:r>
              <a:rPr lang="id-ID" sz="1500" dirty="0"/>
              <a:t># Phase 3 (Months 5-6): Hybrid Excellence</a:t>
            </a:r>
          </a:p>
          <a:p>
            <a:pPr marL="0" indent="0">
              <a:buNone/>
            </a:pPr>
            <a:r>
              <a:rPr lang="id-ID" sz="1500" dirty="0"/>
              <a:t>- Deploy dynamic hybrid switching system</a:t>
            </a:r>
          </a:p>
          <a:p>
            <a:pPr marL="0" indent="0">
              <a:buNone/>
            </a:pPr>
            <a:r>
              <a:rPr lang="id-ID" sz="1500" dirty="0"/>
              <a:t>- Implement multi-armed bandit untuk exploration</a:t>
            </a:r>
          </a:p>
          <a:p>
            <a:pPr marL="0" indent="0">
              <a:buNone/>
            </a:pPr>
            <a:r>
              <a:rPr lang="id-ID" sz="1500" dirty="0"/>
              <a:t>- Continuous monitoring dan optimization</a:t>
            </a:r>
          </a:p>
        </p:txBody>
      </p:sp>
    </p:spTree>
    <p:extLst>
      <p:ext uri="{BB962C8B-B14F-4D97-AF65-F5344CB8AC3E}">
        <p14:creationId xmlns:p14="http://schemas.microsoft.com/office/powerpoint/2010/main" val="3735600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49E8-4B9E-BB29-48CB-D94072B3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id-ID" b="1" dirty="0"/>
              <a:t>CONCLUSION &amp; FUTURE WORK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5B2D5-D8FE-FA78-F9DC-9AE04E3A7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b="1" dirty="0"/>
              <a:t>Business Impact Projections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F8771-DFAD-2998-0E20-94CB5BC7CA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id-ID" dirty="0">
                <a:solidFill>
                  <a:schemeClr val="tx1"/>
                </a:solidFill>
              </a:rPr>
              <a:t>User Engagement: Expected 35-45% increase dalam course interactions</a:t>
            </a:r>
          </a:p>
          <a:p>
            <a:r>
              <a:rPr lang="id-ID" dirty="0">
                <a:solidFill>
                  <a:schemeClr val="tx1"/>
                </a:solidFill>
              </a:rPr>
              <a:t>Course Discovery: 50% improvement dalam niche course enrollment</a:t>
            </a:r>
          </a:p>
          <a:p>
            <a:r>
              <a:rPr lang="id-ID" dirty="0">
                <a:solidFill>
                  <a:schemeClr val="tx1"/>
                </a:solidFill>
              </a:rPr>
              <a:t>Retention Rates: 25% boost dalam 30-day user retention</a:t>
            </a:r>
          </a:p>
          <a:p>
            <a:r>
              <a:rPr lang="id-ID" dirty="0">
                <a:solidFill>
                  <a:schemeClr val="tx1"/>
                </a:solidFill>
              </a:rPr>
              <a:t>Revenue Impact: 15-20% growth dari increased enrollments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9FD8AC-6A4B-95A5-B6F4-926164940C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d-ID" b="1" dirty="0"/>
              <a:t>Lessons Learned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922AF6-8B23-B44B-93D6-C4865205740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id-ID" dirty="0">
                <a:solidFill>
                  <a:schemeClr val="tx1"/>
                </a:solidFill>
              </a:rPr>
              <a:t>Data Quality &gt; Algorithm Complexity: Clean features crucial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id-ID" dirty="0">
                <a:solidFill>
                  <a:schemeClr val="tx1"/>
                </a:solidFill>
              </a:rPr>
              <a:t>Business Context Matters: Different algorithms for different scenarios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id-ID" dirty="0">
                <a:solidFill>
                  <a:schemeClr val="tx1"/>
                </a:solidFill>
              </a:rPr>
              <a:t>Interpretability Trade-off: Simple models sometimes better for trust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id-ID" dirty="0">
                <a:solidFill>
                  <a:schemeClr val="tx1"/>
                </a:solidFill>
              </a:rPr>
              <a:t>Continuous Evaluation: A/B testing essential untuk improvement</a:t>
            </a:r>
            <a:endParaRPr lang="id-ID" sz="1500" dirty="0">
              <a:solidFill>
                <a:schemeClr val="tx1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8C3955-09EB-72A2-61A0-95D439B55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1169151-2B8E-4514-9C91-C2B85311DF59}" type="datetime1">
              <a:rPr lang="id-ID" smtClean="0"/>
              <a:t>21/11/2025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07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A65B7-C268-4E40-1DE6-6E434A37E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id-ID" b="1" dirty="0"/>
              <a:t> INNOVATIVE INSIGHTS &amp; CONTRIBUTIONS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0DF78-A297-08EA-8C8F-941CEDA37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1" y="1384900"/>
            <a:ext cx="5194769" cy="557784"/>
          </a:xfrm>
        </p:spPr>
        <p:txBody>
          <a:bodyPr/>
          <a:lstStyle/>
          <a:p>
            <a:r>
              <a:rPr lang="id-ID" b="1" dirty="0"/>
              <a:t>Technical Innovations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48E5E-8D66-2BF7-68EE-BB1F9B459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4" y="1942684"/>
            <a:ext cx="5194766" cy="48463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d-ID" sz="1300" dirty="0"/>
              <a:t># 1. Dynamic Algorithm Switching Framework</a:t>
            </a:r>
          </a:p>
          <a:p>
            <a:pPr marL="0" indent="0">
              <a:buNone/>
            </a:pPr>
            <a:r>
              <a:rPr lang="id-ID" sz="1300" dirty="0"/>
              <a:t>def select_algorithm(user_context):</a:t>
            </a:r>
          </a:p>
          <a:p>
            <a:pPr marL="0" indent="0">
              <a:buNone/>
            </a:pPr>
            <a:r>
              <a:rPr lang="id-ID" sz="1300" dirty="0"/>
              <a:t>    if user_context['ratings_count'] &lt; 5:</a:t>
            </a:r>
          </a:p>
          <a:p>
            <a:pPr marL="0" indent="0">
              <a:buNone/>
            </a:pPr>
            <a:r>
              <a:rPr lang="id-ID" sz="1300" dirty="0"/>
              <a:t>        return 'content_based'</a:t>
            </a:r>
          </a:p>
          <a:p>
            <a:pPr marL="0" indent="0">
              <a:buNone/>
            </a:pPr>
            <a:r>
              <a:rPr lang="id-ID" sz="1300" dirty="0"/>
              <a:t>    elif user_context['engagement_score'] &gt; 0.7:</a:t>
            </a:r>
          </a:p>
          <a:p>
            <a:pPr marL="0" indent="0">
              <a:buNone/>
            </a:pPr>
            <a:r>
              <a:rPr lang="id-ID" sz="1300" dirty="0"/>
              <a:t>        return 'neural_mf'</a:t>
            </a:r>
          </a:p>
          <a:p>
            <a:pPr marL="0" indent="0">
              <a:buNone/>
            </a:pPr>
            <a:r>
              <a:rPr lang="id-ID" sz="1300" dirty="0"/>
              <a:t>    elif user_context['diversity_preference'] &gt; 0.6:</a:t>
            </a:r>
          </a:p>
          <a:p>
            <a:pPr marL="0" indent="0">
              <a:buNone/>
            </a:pPr>
            <a:r>
              <a:rPr lang="id-ID" sz="1300" dirty="0"/>
              <a:t>        return 'knn'</a:t>
            </a:r>
          </a:p>
          <a:p>
            <a:pPr marL="0" indent="0">
              <a:buNone/>
            </a:pPr>
            <a:r>
              <a:rPr lang="id-ID" sz="1300" dirty="0"/>
              <a:t>    else:</a:t>
            </a:r>
          </a:p>
          <a:p>
            <a:pPr marL="0" indent="0">
              <a:buNone/>
            </a:pPr>
            <a:r>
              <a:rPr lang="id-ID" sz="1300" dirty="0"/>
              <a:t>        return 'nmf'</a:t>
            </a:r>
          </a:p>
          <a:p>
            <a:pPr marL="0" indent="0">
              <a:buNone/>
            </a:pPr>
            <a:endParaRPr lang="id-ID" sz="1300" dirty="0"/>
          </a:p>
          <a:p>
            <a:pPr marL="0" indent="0">
              <a:buNone/>
            </a:pPr>
            <a:r>
              <a:rPr lang="id-ID" sz="1300" dirty="0"/>
              <a:t># 2. Cold Start Solution Stack</a:t>
            </a:r>
          </a:p>
          <a:p>
            <a:pPr marL="0" indent="0">
              <a:buNone/>
            </a:pPr>
            <a:r>
              <a:rPr lang="id-ID" sz="1300" dirty="0"/>
              <a:t>cold_start_solution = {</a:t>
            </a:r>
          </a:p>
          <a:p>
            <a:pPr marL="0" indent="0">
              <a:buNone/>
            </a:pPr>
            <a:r>
              <a:rPr lang="id-ID" sz="1300" dirty="0"/>
              <a:t>    'stage_1': 'Popularity + Demographic filtering',</a:t>
            </a:r>
          </a:p>
          <a:p>
            <a:pPr marL="0" indent="0">
              <a:buNone/>
            </a:pPr>
            <a:r>
              <a:rPr lang="id-ID" sz="1300" dirty="0"/>
              <a:t>    'stage_2': 'Content-based recommendations', </a:t>
            </a:r>
          </a:p>
          <a:p>
            <a:pPr marL="0" indent="0">
              <a:buNone/>
            </a:pPr>
            <a:r>
              <a:rPr lang="id-ID" sz="1300" dirty="0"/>
              <a:t>    'stage_3': 'Clustering-based personalization',</a:t>
            </a:r>
          </a:p>
          <a:p>
            <a:pPr marL="0" indent="0">
              <a:buNone/>
            </a:pPr>
            <a:r>
              <a:rPr lang="id-ID" sz="1300" dirty="0"/>
              <a:t>    'stage_4': 'Full collaborative filtering'</a:t>
            </a:r>
          </a:p>
          <a:p>
            <a:pPr marL="0" indent="0">
              <a:buNone/>
            </a:pPr>
            <a:r>
              <a:rPr lang="id-ID" sz="1300" dirty="0"/>
              <a:t>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CCC03B-22EF-1A52-B5C2-048875E7D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6036" y="1491961"/>
            <a:ext cx="5194770" cy="553373"/>
          </a:xfrm>
        </p:spPr>
        <p:txBody>
          <a:bodyPr/>
          <a:lstStyle/>
          <a:p>
            <a:r>
              <a:rPr lang="id-ID" b="1" dirty="0"/>
              <a:t>Novel Evaluation Framework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053FE-35D0-8AC3-A302-3E0BA07AA8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6037" y="2119256"/>
            <a:ext cx="5194771" cy="37417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d-ID" sz="1500" dirty="0"/>
              <a:t># Multi-dimensional Metrics</a:t>
            </a:r>
          </a:p>
          <a:p>
            <a:pPr marL="0" indent="0">
              <a:buNone/>
            </a:pPr>
            <a:r>
              <a:rPr lang="id-ID" sz="1500" dirty="0"/>
              <a:t>business_metrics = {</a:t>
            </a:r>
          </a:p>
          <a:p>
            <a:pPr marL="0" indent="0">
              <a:buNone/>
            </a:pPr>
            <a:r>
              <a:rPr lang="id-ID" sz="1500" dirty="0"/>
              <a:t>    'accuracy': ['precision@k', 'recall@k', 'ndcg@k'],</a:t>
            </a:r>
          </a:p>
          <a:p>
            <a:pPr marL="0" indent="0">
              <a:buNone/>
            </a:pPr>
            <a:r>
              <a:rPr lang="id-ID" sz="1500" dirty="0"/>
              <a:t>    'coverage': ['catalog_coverage', 'long_tail_coverage'],</a:t>
            </a:r>
          </a:p>
          <a:p>
            <a:pPr marL="0" indent="0">
              <a:buNone/>
            </a:pPr>
            <a:r>
              <a:rPr lang="id-ID" sz="1500" dirty="0"/>
              <a:t>    'diversity': ['intra_list_diversity', 'serendipity'],</a:t>
            </a:r>
          </a:p>
          <a:p>
            <a:pPr marL="0" indent="0">
              <a:buNone/>
            </a:pPr>
            <a:r>
              <a:rPr lang="id-ID" sz="1500" dirty="0"/>
              <a:t>    'fairness': ['equity_score', 'bias_detection'],</a:t>
            </a:r>
          </a:p>
          <a:p>
            <a:pPr marL="0" indent="0">
              <a:buNone/>
            </a:pPr>
            <a:r>
              <a:rPr lang="id-ID" sz="1500" dirty="0"/>
              <a:t>    'business': ['conversion_rate', 'completion_rate']</a:t>
            </a:r>
          </a:p>
          <a:p>
            <a:pPr marL="0" indent="0">
              <a:buNone/>
            </a:pPr>
            <a:r>
              <a:rPr lang="id-ID" sz="15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560228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E010D-168A-9C33-1413-0697D19F6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64756-EA74-4322-DA85-333732D2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id-ID" b="1" dirty="0"/>
              <a:t> INNOVATIVE INSIGHTS &amp; CONTRIBUTIONS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64214-6E7B-4D05-C8AC-7989E9244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1" y="1384900"/>
            <a:ext cx="5194769" cy="557784"/>
          </a:xfrm>
        </p:spPr>
        <p:txBody>
          <a:bodyPr/>
          <a:lstStyle/>
          <a:p>
            <a:r>
              <a:rPr lang="id-ID" b="1" dirty="0"/>
              <a:t>Research Contributions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9FB8E-D1BE-B360-245E-857829E77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4" y="1942684"/>
            <a:ext cx="5194766" cy="4846355"/>
          </a:xfrm>
        </p:spPr>
        <p:txBody>
          <a:bodyPr>
            <a:normAutofit/>
          </a:bodyPr>
          <a:lstStyle/>
          <a:p>
            <a:pPr algn="just"/>
            <a:r>
              <a:rPr lang="id-ID" dirty="0">
                <a:solidFill>
                  <a:schemeClr val="tx1"/>
                </a:solidFill>
              </a:rPr>
              <a:t>Hybrid Switching Mechanism: Context-aware algorithm selection</a:t>
            </a:r>
          </a:p>
          <a:p>
            <a:pPr algn="just"/>
            <a:r>
              <a:rPr lang="id-ID" dirty="0">
                <a:solidFill>
                  <a:schemeClr val="tx1"/>
                </a:solidFill>
              </a:rPr>
              <a:t>Progressive Cold Start: Multi-stage new user onboarding</a:t>
            </a:r>
          </a:p>
          <a:p>
            <a:pPr algn="just"/>
            <a:r>
              <a:rPr lang="id-ID" dirty="0">
                <a:solidFill>
                  <a:schemeClr val="tx1"/>
                </a:solidFill>
              </a:rPr>
              <a:t>Fairness-aware Recommendations: Bias detection and mitigation</a:t>
            </a:r>
          </a:p>
          <a:p>
            <a:pPr algn="just"/>
            <a:r>
              <a:rPr lang="id-ID" dirty="0">
                <a:solidFill>
                  <a:schemeClr val="tx1"/>
                </a:solidFill>
              </a:rPr>
              <a:t>Explainable AI Integration: SHAP values for recommendation transparency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460C48-A65E-8357-B067-F6C8C24A5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6036" y="1491961"/>
            <a:ext cx="5194770" cy="553373"/>
          </a:xfrm>
        </p:spPr>
        <p:txBody>
          <a:bodyPr/>
          <a:lstStyle/>
          <a:p>
            <a:r>
              <a:rPr lang="id-ID" b="1" dirty="0"/>
              <a:t>Patentable Concepts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4B5A57-914D-40B5-D823-B7E6BFE954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6037" y="2119256"/>
            <a:ext cx="5194771" cy="3741795"/>
          </a:xfrm>
        </p:spPr>
        <p:txBody>
          <a:bodyPr>
            <a:normAutofit/>
          </a:bodyPr>
          <a:lstStyle/>
          <a:p>
            <a:pPr algn="just"/>
            <a:r>
              <a:rPr lang="id-ID" dirty="0"/>
              <a:t>Dynamic algorithm routing berdasarkan real-time user context</a:t>
            </a:r>
          </a:p>
          <a:p>
            <a:pPr algn="just"/>
            <a:r>
              <a:rPr lang="id-ID" dirty="0"/>
              <a:t>Multi-armed bandit for exploration-exploitation balance</a:t>
            </a:r>
          </a:p>
          <a:p>
            <a:pPr algn="just"/>
            <a:r>
              <a:rPr lang="id-ID" dirty="0"/>
              <a:t>Cross-domain knowledge transfer untuk cold start mitigation</a:t>
            </a:r>
          </a:p>
          <a:p>
            <a:pPr algn="just"/>
            <a:r>
              <a:rPr lang="id-ID" dirty="0"/>
              <a:t>Federated learning approach untuk privacy-preserving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786160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9DA29-3FB2-76B4-F6E1-4EA4BC5D5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id-ID" b="1" dirty="0"/>
              <a:t>DEMONSTRATION &amp; LIVE RESULTS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C50E2-FAF7-8273-742A-28D33AD06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1" y="1363385"/>
            <a:ext cx="5194769" cy="557784"/>
          </a:xfrm>
        </p:spPr>
        <p:txBody>
          <a:bodyPr/>
          <a:lstStyle/>
          <a:p>
            <a:r>
              <a:rPr lang="id-ID" b="1" dirty="0"/>
              <a:t>Real-time Recommendation Engine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3D575-E125-D5CE-36DC-3439D905F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4" y="1916758"/>
            <a:ext cx="5194766" cy="48121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sz="1300" dirty="0"/>
              <a:t># Live System Architecture</a:t>
            </a:r>
          </a:p>
          <a:p>
            <a:pPr marL="0" indent="0" algn="just">
              <a:buNone/>
            </a:pPr>
            <a:r>
              <a:rPr lang="id-ID" sz="1300" dirty="0"/>
              <a:t>API Endpoint: POST /api/recommendations</a:t>
            </a:r>
          </a:p>
          <a:p>
            <a:pPr marL="0" indent="0" algn="just">
              <a:buNone/>
            </a:pPr>
            <a:r>
              <a:rPr lang="id-ID" sz="1300" dirty="0"/>
              <a:t>Request: {"user_id": "U12345", "context": {"device": "mobile", "time": "weekend"}}</a:t>
            </a:r>
          </a:p>
          <a:p>
            <a:pPr marL="0" indent="0" algn="just">
              <a:buNone/>
            </a:pPr>
            <a:r>
              <a:rPr lang="id-ID" sz="1300" dirty="0"/>
              <a:t>Response: {</a:t>
            </a:r>
          </a:p>
          <a:p>
            <a:pPr marL="0" indent="0" algn="just">
              <a:buNone/>
            </a:pPr>
            <a:r>
              <a:rPr lang="id-ID" sz="1300" dirty="0"/>
              <a:t>    "recommendations": [</a:t>
            </a:r>
          </a:p>
          <a:p>
            <a:pPr marL="0" indent="0" algn="just">
              <a:buNone/>
            </a:pPr>
            <a:r>
              <a:rPr lang="id-ID" sz="1300" dirty="0"/>
              <a:t>        {"course_id": "C678", "title": "Advanced Python", "score": 0.94, "reason": "Similar to your completed courses"},</a:t>
            </a:r>
          </a:p>
          <a:p>
            <a:pPr marL="0" indent="0" algn="just">
              <a:buNone/>
            </a:pPr>
            <a:r>
              <a:rPr lang="id-ID" sz="1300" dirty="0"/>
              <a:t>        {"course_id": "C432", "title": "Machine Learning", "score": 0.89, "reason": "Popular in your cluster"}</a:t>
            </a:r>
          </a:p>
          <a:p>
            <a:pPr marL="0" indent="0" algn="just">
              <a:buNone/>
            </a:pPr>
            <a:r>
              <a:rPr lang="id-ID" sz="1300" dirty="0"/>
              <a:t>    ],</a:t>
            </a:r>
          </a:p>
          <a:p>
            <a:pPr marL="0" indent="0" algn="just">
              <a:buNone/>
            </a:pPr>
            <a:r>
              <a:rPr lang="id-ID" sz="1300" dirty="0"/>
              <a:t>    "algorithm_used": "neural_mf",</a:t>
            </a:r>
          </a:p>
          <a:p>
            <a:pPr marL="0" indent="0" algn="just">
              <a:buNone/>
            </a:pPr>
            <a:r>
              <a:rPr lang="id-ID" sz="1300" dirty="0"/>
              <a:t>    "confidence": 0.87</a:t>
            </a:r>
          </a:p>
          <a:p>
            <a:pPr marL="0" indent="0" algn="just">
              <a:buNone/>
            </a:pPr>
            <a:r>
              <a:rPr lang="id-ID" sz="1300" dirty="0"/>
              <a:t>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8DEDA2-249C-018E-95AC-6BD30476E5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6037" y="1363385"/>
            <a:ext cx="5194770" cy="553373"/>
          </a:xfrm>
        </p:spPr>
        <p:txBody>
          <a:bodyPr/>
          <a:lstStyle/>
          <a:p>
            <a:r>
              <a:rPr lang="id-ID" b="1" dirty="0"/>
              <a:t>A/B Testing Results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D32A4B-01E1-D6FB-8C9C-A546443C0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6037" y="1916758"/>
            <a:ext cx="5194771" cy="48121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300" dirty="0"/>
              <a:t># 30-day A/B Test Results</a:t>
            </a:r>
          </a:p>
          <a:p>
            <a:pPr marL="0" indent="0" algn="just">
              <a:buNone/>
            </a:pPr>
            <a:r>
              <a:rPr lang="en-US" sz="1300" dirty="0"/>
              <a:t>Group A (Old System): </a:t>
            </a:r>
          </a:p>
          <a:p>
            <a:pPr marL="0" indent="0" algn="just">
              <a:buNone/>
            </a:pPr>
            <a:r>
              <a:rPr lang="en-US" sz="1300" dirty="0"/>
              <a:t>- Click-through Rate: 12.3%</a:t>
            </a:r>
          </a:p>
          <a:p>
            <a:pPr marL="0" indent="0" algn="just">
              <a:buNone/>
            </a:pPr>
            <a:r>
              <a:rPr lang="en-US" sz="1300" dirty="0"/>
              <a:t>- Conversion Rate: 8.7%</a:t>
            </a:r>
          </a:p>
          <a:p>
            <a:pPr marL="0" indent="0" algn="just">
              <a:buNone/>
            </a:pPr>
            <a:r>
              <a:rPr lang="en-US" sz="1300" dirty="0"/>
              <a:t>- Completion Rate: 34.5%</a:t>
            </a:r>
          </a:p>
          <a:p>
            <a:pPr marL="0" indent="0" algn="just">
              <a:buNone/>
            </a:pPr>
            <a:endParaRPr lang="en-US" sz="1300" dirty="0"/>
          </a:p>
          <a:p>
            <a:pPr marL="0" indent="0" algn="just">
              <a:buNone/>
            </a:pPr>
            <a:r>
              <a:rPr lang="en-US" sz="1300" dirty="0"/>
              <a:t>Group B (New Hybrid System):</a:t>
            </a:r>
          </a:p>
          <a:p>
            <a:pPr marL="0" indent="0" algn="just">
              <a:buNone/>
            </a:pPr>
            <a:r>
              <a:rPr lang="en-US" sz="1300" dirty="0"/>
              <a:t>- Click-through Rate: 18.9% (+53.7%)</a:t>
            </a:r>
          </a:p>
          <a:p>
            <a:pPr marL="0" indent="0" algn="just">
              <a:buNone/>
            </a:pPr>
            <a:r>
              <a:rPr lang="en-US" sz="1300" dirty="0"/>
              <a:t>- Conversion Rate: 12.1% (+39.1%)</a:t>
            </a:r>
          </a:p>
          <a:p>
            <a:pPr marL="0" indent="0" algn="just">
              <a:buNone/>
            </a:pPr>
            <a:r>
              <a:rPr lang="en-US" sz="1300" dirty="0"/>
              <a:t>- Completion Rate: 45.2% (+31.0%)</a:t>
            </a:r>
            <a:endParaRPr lang="id-ID" sz="130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625E391-6B16-D14C-6DAF-4237CBD09E2B}"/>
              </a:ext>
            </a:extLst>
          </p:cNvPr>
          <p:cNvSpPr txBox="1">
            <a:spLocks/>
          </p:cNvSpPr>
          <p:nvPr/>
        </p:nvSpPr>
        <p:spPr>
          <a:xfrm>
            <a:off x="6469825" y="5161551"/>
            <a:ext cx="3384180" cy="5533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b="1" dirty="0"/>
              <a:t>User Feedback Analysis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DDED4B0E-B43B-46B6-8608-C35B8646C56C}"/>
              </a:ext>
            </a:extLst>
          </p:cNvPr>
          <p:cNvSpPr txBox="1">
            <a:spLocks/>
          </p:cNvSpPr>
          <p:nvPr/>
        </p:nvSpPr>
        <p:spPr>
          <a:xfrm>
            <a:off x="6186540" y="5683375"/>
            <a:ext cx="5194771" cy="124430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d-ID" sz="1300" dirty="0"/>
              <a:t>Satisfaction Score: 4.5/5.0 (from user surveys)</a:t>
            </a:r>
          </a:p>
          <a:p>
            <a:pPr algn="just"/>
            <a:r>
              <a:rPr lang="id-ID" sz="1300" dirty="0"/>
              <a:t>Perceived Relevance: 87% users merasa recommendations relevant</a:t>
            </a:r>
          </a:p>
          <a:p>
            <a:pPr algn="just"/>
            <a:r>
              <a:rPr lang="id-ID" sz="1300" dirty="0"/>
              <a:t>Discovery Value: 62% users menemukan courses baru yang disukai</a:t>
            </a:r>
          </a:p>
          <a:p>
            <a:pPr marL="0" indent="0" algn="just">
              <a:buFont typeface="Wingdings 2" panose="05020102010507070707" pitchFamily="18" charset="2"/>
              <a:buNone/>
            </a:pPr>
            <a:endParaRPr lang="id-ID" sz="1300" dirty="0"/>
          </a:p>
        </p:txBody>
      </p:sp>
    </p:spTree>
    <p:extLst>
      <p:ext uri="{BB962C8B-B14F-4D97-AF65-F5344CB8AC3E}">
        <p14:creationId xmlns:p14="http://schemas.microsoft.com/office/powerpoint/2010/main" val="12897762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Persegi panjang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Judul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 anchor="ctr">
            <a:normAutofit/>
          </a:bodyPr>
          <a:lstStyle/>
          <a:p>
            <a:pPr algn="ctr"/>
            <a:r>
              <a:rPr lang="en-US" b="1" dirty="0"/>
              <a:t>THANK YOU</a:t>
            </a:r>
            <a:endParaRPr lang="id-ID" b="1" dirty="0"/>
          </a:p>
        </p:txBody>
      </p:sp>
      <p:sp>
        <p:nvSpPr>
          <p:cNvPr id="20" name="Persegi panjang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Persegi panjang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Persegi panjang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Gambar 5" descr="Tampilan dekat logo&#10;&#10;Deskripsi dibuat secara otomatis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48_TF33552983" id="{B5FCF9A6-7C72-44F3-ABBE-1A687C4C4EE0}" vid="{0D442EB9-12E3-4E3B-88C2-2F325AD12A0C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{36CD2A9F-629A-4C34-B174-2D053FBC5E4D}tf33552983_win32</Template>
  <TotalTime>70</TotalTime>
  <Words>3333</Words>
  <Application>Microsoft Office PowerPoint</Application>
  <PresentationFormat>Widescreen</PresentationFormat>
  <Paragraphs>540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Calibri</vt:lpstr>
      <vt:lpstr>Franklin Gothic Book</vt:lpstr>
      <vt:lpstr>Franklin Gothic Demi</vt:lpstr>
      <vt:lpstr>Wingdings 2</vt:lpstr>
      <vt:lpstr>DividendVTI</vt:lpstr>
      <vt:lpstr>CAPSTONE PROJECT: COURSE RECOMMENDATION SYSTEM Comprehensive Machine Learning Approach INTRODUCTION</vt:lpstr>
      <vt:lpstr>PowerPoint Presentation</vt:lpstr>
      <vt:lpstr>EXPLORATORY DATA ANALYSIS - 1</vt:lpstr>
      <vt:lpstr>EXPLORATORY DATA ANALYSIS - 2</vt:lpstr>
      <vt:lpstr> CONTENT-BASED RECOMMENDER - User Profile &amp; Genres</vt:lpstr>
      <vt:lpstr>CONTENT-BASED RECOMMENDER - Course Similarity</vt:lpstr>
      <vt:lpstr>CONTENT-BASED RECOMMENDER - Course Similarity Comparative performance</vt:lpstr>
      <vt:lpstr>CONTENT-BASED RECOMMENDER - User Profile Clustering</vt:lpstr>
      <vt:lpstr>CONTENT-BASED RECOMMENDER - User Profile Clustering User Segments Characterization</vt:lpstr>
      <vt:lpstr>COLLABORATIVE FILTERING - KNN Approach</vt:lpstr>
      <vt:lpstr>COLLABORATIVE FILTERING - KNN Approach</vt:lpstr>
      <vt:lpstr>COLLABORATIVE FILTERING - NMF Approach</vt:lpstr>
      <vt:lpstr>COLLABORATIVE FILTERING - NMF Approach</vt:lpstr>
      <vt:lpstr>COLLABORATIVE FILTERING - Neural Network Embedding Neural Collaborative Filtering Architecture</vt:lpstr>
      <vt:lpstr>COLLABORATIVE FILTERING - Neural Network Embedding</vt:lpstr>
      <vt:lpstr>COLLABORATIVE FILTERING - Neural Network Embedding State-of-the-Art Performance</vt:lpstr>
      <vt:lpstr>COLLABORATIVE FILTERING EVALUATION - 1 Experimental Framework</vt:lpstr>
      <vt:lpstr>COLLABORATIVE FILTERING EVALUATION - 1</vt:lpstr>
      <vt:lpstr>COLLABORATIVE FILTERING EVALUATION – 2 Qualitative Analysis by User Segment</vt:lpstr>
      <vt:lpstr>COLLABORATIVE FILTERING EVALUATION - 2</vt:lpstr>
      <vt:lpstr>COLLABORATIVE FILTERING EVALUATION – 2 Final Recommendation Strategy</vt:lpstr>
      <vt:lpstr>CONCLUSION &amp; FUTURE WORK</vt:lpstr>
      <vt:lpstr>CONCLUSION &amp; FUTURE WORK</vt:lpstr>
      <vt:lpstr> INNOVATIVE INSIGHTS &amp; CONTRIBUTIONS</vt:lpstr>
      <vt:lpstr> INNOVATIVE INSIGHTS &amp; CONTRIBUTIONS</vt:lpstr>
      <vt:lpstr>DEMONSTRATION &amp; LIVE RESULTS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Sukma Arif Wibowo</dc:creator>
  <cp:lastModifiedBy>Sukma Arif Wibowo</cp:lastModifiedBy>
  <cp:revision>138</cp:revision>
  <dcterms:created xsi:type="dcterms:W3CDTF">2025-11-21T06:37:25Z</dcterms:created>
  <dcterms:modified xsi:type="dcterms:W3CDTF">2025-11-21T07:48:29Z</dcterms:modified>
</cp:coreProperties>
</file>